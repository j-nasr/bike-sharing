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embeddedFontLst>
    <p:embeddedFont>
      <p:font typeface="Maven Pro" pitchFamily="2" charset="77"/>
      <p:regular r:id="rId14"/>
      <p:bold r:id="rId15"/>
    </p:embeddedFont>
    <p:embeddedFont>
      <p:font typeface="Nunito" pitchFamily="2" charset="77"/>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AC44F44-1B35-4D4D-A406-DE5902E111F4}">
  <a:tblStyle styleId="{1AC44F44-1B35-4D4D-A406-DE5902E111F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86"/>
    <p:restoredTop sz="94733"/>
  </p:normalViewPr>
  <p:slideViewPr>
    <p:cSldViewPr snapToGrid="0">
      <p:cViewPr varScale="1">
        <p:scale>
          <a:sx n="134" d="100"/>
          <a:sy n="134" d="100"/>
        </p:scale>
        <p:origin x="552"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ade6fd4136_0_4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ade6fd4136_0_4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ade6fd413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3ade6fd413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ade6fd4136_1_8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ade6fd4136_1_8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ade6fd413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ade6fd413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ade6fd4136_0_4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3ade6fd4136_0_4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ade6fd4136_1_8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3ade6fd4136_1_8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ade6fd4136_1_8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3ade6fd4136_1_8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ade6fd4136_1_8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3ade6fd4136_1_8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ade6fd4136_1_8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3ade6fd4136_1_8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ade6fd4136_0_4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ade6fd4136_0_4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rm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0"/>
              </a:spcBef>
              <a:spcAft>
                <a:spcPts val="0"/>
              </a:spcAft>
              <a:buClr>
                <a:schemeClr val="lt1"/>
              </a:buClr>
              <a:buSzPts val="1100"/>
              <a:buChar char="○"/>
              <a:defRPr>
                <a:solidFill>
                  <a:schemeClr val="lt1"/>
                </a:solidFill>
              </a:defRPr>
            </a:lvl2pPr>
            <a:lvl3pPr marL="1371600" lvl="2" indent="-298450" algn="ctr">
              <a:spcBef>
                <a:spcPts val="0"/>
              </a:spcBef>
              <a:spcAft>
                <a:spcPts val="0"/>
              </a:spcAft>
              <a:buClr>
                <a:schemeClr val="lt1"/>
              </a:buClr>
              <a:buSzPts val="1100"/>
              <a:buChar char="■"/>
              <a:defRPr>
                <a:solidFill>
                  <a:schemeClr val="lt1"/>
                </a:solidFill>
              </a:defRPr>
            </a:lvl3pPr>
            <a:lvl4pPr marL="1828800" lvl="3" indent="-298450" algn="ctr">
              <a:spcBef>
                <a:spcPts val="0"/>
              </a:spcBef>
              <a:spcAft>
                <a:spcPts val="0"/>
              </a:spcAft>
              <a:buClr>
                <a:schemeClr val="lt1"/>
              </a:buClr>
              <a:buSzPts val="1100"/>
              <a:buChar char="●"/>
              <a:defRPr>
                <a:solidFill>
                  <a:schemeClr val="lt1"/>
                </a:solidFill>
              </a:defRPr>
            </a:lvl4pPr>
            <a:lvl5pPr marL="2286000" lvl="4" indent="-298450" algn="ctr">
              <a:spcBef>
                <a:spcPts val="0"/>
              </a:spcBef>
              <a:spcAft>
                <a:spcPts val="0"/>
              </a:spcAft>
              <a:buClr>
                <a:schemeClr val="lt1"/>
              </a:buClr>
              <a:buSzPts val="1100"/>
              <a:buChar char="○"/>
              <a:defRPr>
                <a:solidFill>
                  <a:schemeClr val="lt1"/>
                </a:solidFill>
              </a:defRPr>
            </a:lvl5pPr>
            <a:lvl6pPr marL="2743200" lvl="5" indent="-298450" algn="ctr">
              <a:spcBef>
                <a:spcPts val="0"/>
              </a:spcBef>
              <a:spcAft>
                <a:spcPts val="0"/>
              </a:spcAft>
              <a:buClr>
                <a:schemeClr val="lt1"/>
              </a:buClr>
              <a:buSzPts val="1100"/>
              <a:buChar char="■"/>
              <a:defRPr>
                <a:solidFill>
                  <a:schemeClr val="lt1"/>
                </a:solidFill>
              </a:defRPr>
            </a:lvl6pPr>
            <a:lvl7pPr marL="3200400" lvl="6" indent="-298450" algn="ctr">
              <a:spcBef>
                <a:spcPts val="0"/>
              </a:spcBef>
              <a:spcAft>
                <a:spcPts val="0"/>
              </a:spcAft>
              <a:buClr>
                <a:schemeClr val="lt1"/>
              </a:buClr>
              <a:buSzPts val="1100"/>
              <a:buChar char="●"/>
              <a:defRPr>
                <a:solidFill>
                  <a:schemeClr val="lt1"/>
                </a:solidFill>
              </a:defRPr>
            </a:lvl7pPr>
            <a:lvl8pPr marL="3657600" lvl="7" indent="-298450" algn="ctr">
              <a:spcBef>
                <a:spcPts val="0"/>
              </a:spcBef>
              <a:spcAft>
                <a:spcPts val="0"/>
              </a:spcAft>
              <a:buClr>
                <a:schemeClr val="lt1"/>
              </a:buClr>
              <a:buSzPts val="1100"/>
              <a:buChar char="○"/>
              <a:defRPr>
                <a:solidFill>
                  <a:schemeClr val="lt1"/>
                </a:solidFill>
              </a:defRPr>
            </a:lvl8pPr>
            <a:lvl9pPr marL="4114800" lvl="8" indent="-298450" algn="ctr">
              <a:spcBef>
                <a:spcPts val="0"/>
              </a:spcBef>
              <a:spcAft>
                <a:spcPts val="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Bike Sharing</a:t>
            </a:r>
            <a:endParaRPr/>
          </a:p>
        </p:txBody>
      </p:sp>
      <p:sp>
        <p:nvSpPr>
          <p:cNvPr id="278" name="Google Shape;278;p13"/>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By: Tyler Tarabocchia, Ryan Guidotti, Joe Nasr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p:nvPr/>
        </p:nvSpPr>
        <p:spPr>
          <a:xfrm>
            <a:off x="662100" y="456050"/>
            <a:ext cx="78198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800" b="1">
                <a:solidFill>
                  <a:schemeClr val="dk2"/>
                </a:solidFill>
                <a:latin typeface="Maven Pro"/>
                <a:ea typeface="Maven Pro"/>
                <a:cs typeface="Maven Pro"/>
                <a:sym typeface="Maven Pro"/>
              </a:rPr>
              <a:t>Our dataset</a:t>
            </a:r>
            <a:endParaRPr/>
          </a:p>
        </p:txBody>
      </p:sp>
      <p:sp>
        <p:nvSpPr>
          <p:cNvPr id="284" name="Google Shape;284;p14"/>
          <p:cNvSpPr txBox="1"/>
          <p:nvPr/>
        </p:nvSpPr>
        <p:spPr>
          <a:xfrm>
            <a:off x="585950" y="1438900"/>
            <a:ext cx="7498800" cy="149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a:solidFill>
                  <a:srgbClr val="303030"/>
                </a:solidFill>
                <a:latin typeface="Maven Pro"/>
                <a:ea typeface="Maven Pro"/>
                <a:cs typeface="Maven Pro"/>
                <a:sym typeface="Maven Pro"/>
              </a:rPr>
              <a:t>The dataset we chose is called Bike Sharing. This dataset contains the hourly and daily count of rental bikes between years 2011 and 2012 in Capital bikeshare system with the corresponding weather and seasonal information. This dataset was found on UCI Machine Learning Repository. There are 11 variables with 731 observations.  This is a Regression dataset. </a:t>
            </a:r>
            <a:endParaRPr sz="1700">
              <a:solidFill>
                <a:srgbClr val="303030"/>
              </a:solidFill>
              <a:latin typeface="Maven Pro"/>
              <a:ea typeface="Maven Pro"/>
              <a:cs typeface="Maven Pro"/>
              <a:sym typeface="Maven Pro"/>
            </a:endParaRPr>
          </a:p>
        </p:txBody>
      </p:sp>
      <p:pic>
        <p:nvPicPr>
          <p:cNvPr id="285" name="Google Shape;285;p14"/>
          <p:cNvPicPr preferRelativeResize="0"/>
          <p:nvPr/>
        </p:nvPicPr>
        <p:blipFill>
          <a:blip r:embed="rId3">
            <a:alphaModFix/>
          </a:blip>
          <a:stretch>
            <a:fillRect/>
          </a:stretch>
        </p:blipFill>
        <p:spPr>
          <a:xfrm>
            <a:off x="5866900" y="3033250"/>
            <a:ext cx="3277100" cy="21102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graphicFrame>
        <p:nvGraphicFramePr>
          <p:cNvPr id="290" name="Google Shape;290;p15"/>
          <p:cNvGraphicFramePr/>
          <p:nvPr/>
        </p:nvGraphicFramePr>
        <p:xfrm>
          <a:off x="47625" y="37375"/>
          <a:ext cx="9048750" cy="4937470"/>
        </p:xfrm>
        <a:graphic>
          <a:graphicData uri="http://schemas.openxmlformats.org/drawingml/2006/table">
            <a:tbl>
              <a:tblPr>
                <a:noFill/>
                <a:tableStyleId>{1AC44F44-1B35-4D4D-A406-DE5902E111F4}</a:tableStyleId>
              </a:tblPr>
              <a:tblGrid>
                <a:gridCol w="3016250">
                  <a:extLst>
                    <a:ext uri="{9D8B030D-6E8A-4147-A177-3AD203B41FA5}">
                      <a16:colId xmlns:a16="http://schemas.microsoft.com/office/drawing/2014/main" val="20000"/>
                    </a:ext>
                  </a:extLst>
                </a:gridCol>
                <a:gridCol w="3016250">
                  <a:extLst>
                    <a:ext uri="{9D8B030D-6E8A-4147-A177-3AD203B41FA5}">
                      <a16:colId xmlns:a16="http://schemas.microsoft.com/office/drawing/2014/main" val="20001"/>
                    </a:ext>
                  </a:extLst>
                </a:gridCol>
                <a:gridCol w="3016250">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en" sz="1200"/>
                        <a:t>Variable Name</a:t>
                      </a:r>
                      <a:endParaRPr sz="1200"/>
                    </a:p>
                  </a:txBody>
                  <a:tcPr marL="91425" marR="91425" marT="91425" marB="91425">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t>Description</a:t>
                      </a:r>
                      <a:endParaRPr sz="1200"/>
                    </a:p>
                  </a:txBody>
                  <a:tcPr marL="91425" marR="91425" marT="91425" marB="91425">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t>Role</a:t>
                      </a:r>
                      <a:endParaRPr sz="1200"/>
                    </a:p>
                  </a:txBody>
                  <a:tcPr marL="91425" marR="91425" marT="91425" marB="91425">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200"/>
                        <a:t>Season</a:t>
                      </a:r>
                      <a:endParaRPr sz="1200"/>
                    </a:p>
                  </a:txBody>
                  <a:tcPr marL="91425" marR="91425"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sz="1200"/>
                        <a:t>1= Winter, 2= Spring, 3= Summer, 4= Fall</a:t>
                      </a:r>
                      <a:endParaRPr sz="1200"/>
                    </a:p>
                  </a:txBody>
                  <a:tcPr marL="91425" marR="91425"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sz="1200"/>
                        <a:t>Predictor</a:t>
                      </a:r>
                      <a:endParaRPr sz="1200"/>
                    </a:p>
                  </a:txBody>
                  <a:tcPr marL="91425" marR="91425" marT="91425" marB="91425">
                    <a:lnT w="9525" cap="flat" cmpd="sng">
                      <a:solidFill>
                        <a:srgbClr val="000000"/>
                      </a:solidFill>
                      <a:prstDash val="solid"/>
                      <a:round/>
                      <a:headEnd type="none" w="sm" len="sm"/>
                      <a:tailEnd type="none" w="sm" len="sm"/>
                    </a:lnT>
                  </a:tcPr>
                </a:tc>
                <a:extLst>
                  <a:ext uri="{0D108BD9-81ED-4DB2-BD59-A6C34878D82A}">
                    <a16:rowId xmlns:a16="http://schemas.microsoft.com/office/drawing/2014/main" val="10001"/>
                  </a:ext>
                </a:extLst>
              </a:tr>
              <a:tr h="411250">
                <a:tc>
                  <a:txBody>
                    <a:bodyPr/>
                    <a:lstStyle/>
                    <a:p>
                      <a:pPr marL="0" lvl="0" indent="0" algn="l" rtl="0">
                        <a:spcBef>
                          <a:spcPts val="0"/>
                        </a:spcBef>
                        <a:spcAft>
                          <a:spcPts val="0"/>
                        </a:spcAft>
                        <a:buNone/>
                      </a:pPr>
                      <a:r>
                        <a:rPr lang="en" sz="1200"/>
                        <a:t>Year</a:t>
                      </a:r>
                      <a:endParaRPr sz="1200"/>
                    </a:p>
                  </a:txBody>
                  <a:tcPr marL="91425" marR="91425" marT="91425" marB="91425"/>
                </a:tc>
                <a:tc>
                  <a:txBody>
                    <a:bodyPr/>
                    <a:lstStyle/>
                    <a:p>
                      <a:pPr marL="0" lvl="0" indent="0" algn="l" rtl="0">
                        <a:spcBef>
                          <a:spcPts val="0"/>
                        </a:spcBef>
                        <a:spcAft>
                          <a:spcPts val="0"/>
                        </a:spcAft>
                        <a:buNone/>
                      </a:pPr>
                      <a:r>
                        <a:rPr lang="en" sz="1200"/>
                        <a:t>0 = 2011, 1=2012</a:t>
                      </a:r>
                      <a:endParaRPr sz="1200"/>
                    </a:p>
                  </a:txBody>
                  <a:tcPr marL="91425" marR="91425" marT="91425" marB="91425"/>
                </a:tc>
                <a:tc>
                  <a:txBody>
                    <a:bodyPr/>
                    <a:lstStyle/>
                    <a:p>
                      <a:pPr marL="0" lvl="0" indent="0" algn="l" rtl="0">
                        <a:spcBef>
                          <a:spcPts val="0"/>
                        </a:spcBef>
                        <a:spcAft>
                          <a:spcPts val="0"/>
                        </a:spcAft>
                        <a:buNone/>
                      </a:pPr>
                      <a:r>
                        <a:rPr lang="en" sz="1200"/>
                        <a:t>Predictor</a:t>
                      </a:r>
                      <a:endParaRPr sz="120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200"/>
                        <a:t>Month</a:t>
                      </a:r>
                      <a:endParaRPr sz="1200"/>
                    </a:p>
                  </a:txBody>
                  <a:tcPr marL="91425" marR="91425" marT="91425" marB="91425"/>
                </a:tc>
                <a:tc>
                  <a:txBody>
                    <a:bodyPr/>
                    <a:lstStyle/>
                    <a:p>
                      <a:pPr marL="0" lvl="0" indent="0" algn="l" rtl="0">
                        <a:spcBef>
                          <a:spcPts val="0"/>
                        </a:spcBef>
                        <a:spcAft>
                          <a:spcPts val="0"/>
                        </a:spcAft>
                        <a:buNone/>
                      </a:pPr>
                      <a:r>
                        <a:rPr lang="en" sz="1200"/>
                        <a:t>Month 1-12, 1=January, 2=February…</a:t>
                      </a:r>
                      <a:endParaRPr sz="1200"/>
                    </a:p>
                  </a:txBody>
                  <a:tcPr marL="91425" marR="91425" marT="91425" marB="91425"/>
                </a:tc>
                <a:tc>
                  <a:txBody>
                    <a:bodyPr/>
                    <a:lstStyle/>
                    <a:p>
                      <a:pPr marL="0" lvl="0" indent="0" algn="l" rtl="0">
                        <a:spcBef>
                          <a:spcPts val="0"/>
                        </a:spcBef>
                        <a:spcAft>
                          <a:spcPts val="0"/>
                        </a:spcAft>
                        <a:buNone/>
                      </a:pPr>
                      <a:r>
                        <a:rPr lang="en" sz="1200"/>
                        <a:t>Predictor</a:t>
                      </a:r>
                      <a:endParaRPr sz="1200"/>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200"/>
                        <a:t>Weekday</a:t>
                      </a:r>
                      <a:endParaRPr sz="1200"/>
                    </a:p>
                  </a:txBody>
                  <a:tcPr marL="91425" marR="91425" marT="91425" marB="91425"/>
                </a:tc>
                <a:tc>
                  <a:txBody>
                    <a:bodyPr/>
                    <a:lstStyle/>
                    <a:p>
                      <a:pPr marL="0" lvl="0" indent="0" algn="l" rtl="0">
                        <a:spcBef>
                          <a:spcPts val="0"/>
                        </a:spcBef>
                        <a:spcAft>
                          <a:spcPts val="0"/>
                        </a:spcAft>
                        <a:buNone/>
                      </a:pPr>
                      <a:r>
                        <a:rPr lang="en" sz="1200"/>
                        <a:t>Day of the week, 0 = Sun, 1 = Mon…</a:t>
                      </a:r>
                      <a:endParaRPr sz="1200"/>
                    </a:p>
                  </a:txBody>
                  <a:tcPr marL="91425" marR="91425" marT="91425" marB="91425"/>
                </a:tc>
                <a:tc>
                  <a:txBody>
                    <a:bodyPr/>
                    <a:lstStyle/>
                    <a:p>
                      <a:pPr marL="0" lvl="0" indent="0" algn="l" rtl="0">
                        <a:spcBef>
                          <a:spcPts val="0"/>
                        </a:spcBef>
                        <a:spcAft>
                          <a:spcPts val="0"/>
                        </a:spcAft>
                        <a:buNone/>
                      </a:pPr>
                      <a:r>
                        <a:rPr lang="en" sz="1200"/>
                        <a:t>Predictor</a:t>
                      </a:r>
                      <a:endParaRPr sz="1200"/>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sz="1200"/>
                        <a:t>Working Day</a:t>
                      </a:r>
                      <a:endParaRPr sz="1200"/>
                    </a:p>
                  </a:txBody>
                  <a:tcPr marL="91425" marR="91425" marT="91425" marB="91425"/>
                </a:tc>
                <a:tc>
                  <a:txBody>
                    <a:bodyPr/>
                    <a:lstStyle/>
                    <a:p>
                      <a:pPr marL="0" lvl="0" indent="0" algn="l" rtl="0">
                        <a:spcBef>
                          <a:spcPts val="0"/>
                        </a:spcBef>
                        <a:spcAft>
                          <a:spcPts val="0"/>
                        </a:spcAft>
                        <a:buNone/>
                      </a:pPr>
                      <a:r>
                        <a:rPr lang="en" sz="1200"/>
                        <a:t>If neither a weekend or holiday, = 1, Otherwise 0.</a:t>
                      </a:r>
                      <a:endParaRPr sz="1200"/>
                    </a:p>
                  </a:txBody>
                  <a:tcPr marL="91425" marR="91425" marT="91425" marB="91425"/>
                </a:tc>
                <a:tc>
                  <a:txBody>
                    <a:bodyPr/>
                    <a:lstStyle/>
                    <a:p>
                      <a:pPr marL="0" lvl="0" indent="0" algn="l" rtl="0">
                        <a:spcBef>
                          <a:spcPts val="0"/>
                        </a:spcBef>
                        <a:spcAft>
                          <a:spcPts val="0"/>
                        </a:spcAft>
                        <a:buNone/>
                      </a:pPr>
                      <a:r>
                        <a:rPr lang="en" sz="1200"/>
                        <a:t>Predictor</a:t>
                      </a:r>
                      <a:endParaRPr sz="1200"/>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 sz="1200"/>
                        <a:t>Weather Situation</a:t>
                      </a:r>
                      <a:endParaRPr sz="12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200"/>
                        <a:t>1 = Clear, 2 = Cloudy, 3 = Rain</a:t>
                      </a:r>
                      <a:endParaRPr sz="12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200"/>
                        <a:t>Predictor</a:t>
                      </a:r>
                      <a:endParaRPr sz="1200"/>
                    </a:p>
                  </a:txBody>
                  <a:tcPr marL="91425" marR="91425" marT="91425" marB="91425"/>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r>
                        <a:rPr lang="en" sz="1200"/>
                        <a:t>Temperature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200"/>
                        <a:t>Temperature in Celsius</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200"/>
                        <a:t>Predictor</a:t>
                      </a:r>
                      <a:endParaRPr sz="1200"/>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7"/>
                  </a:ext>
                </a:extLst>
              </a:tr>
              <a:tr h="381000">
                <a:tc>
                  <a:txBody>
                    <a:bodyPr/>
                    <a:lstStyle/>
                    <a:p>
                      <a:pPr marL="0" lvl="0" indent="0" algn="l" rtl="0">
                        <a:spcBef>
                          <a:spcPts val="0"/>
                        </a:spcBef>
                        <a:spcAft>
                          <a:spcPts val="0"/>
                        </a:spcAft>
                        <a:buNone/>
                      </a:pPr>
                      <a:r>
                        <a:rPr lang="en" sz="1200"/>
                        <a:t>Feel like temperature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200"/>
                        <a:t>Normalized feeling in celsius</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200"/>
                        <a:t>Predictor</a:t>
                      </a:r>
                      <a:endParaRPr sz="1200"/>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8"/>
                  </a:ext>
                </a:extLst>
              </a:tr>
              <a:tr h="381000">
                <a:tc>
                  <a:txBody>
                    <a:bodyPr/>
                    <a:lstStyle/>
                    <a:p>
                      <a:pPr marL="0" lvl="0" indent="0" algn="l" rtl="0">
                        <a:spcBef>
                          <a:spcPts val="0"/>
                        </a:spcBef>
                        <a:spcAft>
                          <a:spcPts val="0"/>
                        </a:spcAft>
                        <a:buNone/>
                      </a:pPr>
                      <a:r>
                        <a:rPr lang="en" sz="1200"/>
                        <a:t>Humidity</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200"/>
                        <a:t>Normalized humidity in celsius</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200"/>
                        <a:t>Predictor</a:t>
                      </a:r>
                      <a:endParaRPr sz="1200"/>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9"/>
                  </a:ext>
                </a:extLst>
              </a:tr>
              <a:tr h="381000">
                <a:tc>
                  <a:txBody>
                    <a:bodyPr/>
                    <a:lstStyle/>
                    <a:p>
                      <a:pPr marL="0" lvl="0" indent="0" algn="l" rtl="0">
                        <a:spcBef>
                          <a:spcPts val="0"/>
                        </a:spcBef>
                        <a:spcAft>
                          <a:spcPts val="0"/>
                        </a:spcAft>
                        <a:buNone/>
                      </a:pPr>
                      <a:r>
                        <a:rPr lang="en" sz="1200"/>
                        <a:t>Windspeed</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200"/>
                        <a:t>Normalized wind speed. Values divided by 67</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200"/>
                        <a:t>Predictor</a:t>
                      </a:r>
                      <a:endParaRPr sz="1200"/>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10"/>
                  </a:ext>
                </a:extLst>
              </a:tr>
              <a:tr h="381000">
                <a:tc>
                  <a:txBody>
                    <a:bodyPr/>
                    <a:lstStyle/>
                    <a:p>
                      <a:pPr marL="0" lvl="0" indent="0" algn="l" rtl="0">
                        <a:spcBef>
                          <a:spcPts val="0"/>
                        </a:spcBef>
                        <a:spcAft>
                          <a:spcPts val="0"/>
                        </a:spcAft>
                        <a:buNone/>
                      </a:pPr>
                      <a:r>
                        <a:rPr lang="en" sz="1200"/>
                        <a:t>Count</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200"/>
                        <a:t>Total rides (casual and registered users)</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200"/>
                        <a:t>Response Variable</a:t>
                      </a:r>
                      <a:endParaRPr sz="1200"/>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11"/>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16"/>
          <p:cNvSpPr txBox="1"/>
          <p:nvPr/>
        </p:nvSpPr>
        <p:spPr>
          <a:xfrm>
            <a:off x="497550" y="545750"/>
            <a:ext cx="81489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800" b="1">
                <a:solidFill>
                  <a:schemeClr val="dk2"/>
                </a:solidFill>
                <a:latin typeface="Maven Pro"/>
                <a:ea typeface="Maven Pro"/>
                <a:cs typeface="Maven Pro"/>
                <a:sym typeface="Maven Pro"/>
              </a:rPr>
              <a:t>Explaining our code and what we left out and why</a:t>
            </a:r>
            <a:endParaRPr/>
          </a:p>
        </p:txBody>
      </p:sp>
      <p:sp>
        <p:nvSpPr>
          <p:cNvPr id="296" name="Google Shape;296;p16"/>
          <p:cNvSpPr txBox="1"/>
          <p:nvPr/>
        </p:nvSpPr>
        <p:spPr>
          <a:xfrm>
            <a:off x="656550" y="1592450"/>
            <a:ext cx="7830900" cy="28470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1400"/>
              </a:spcBef>
              <a:spcAft>
                <a:spcPts val="0"/>
              </a:spcAft>
              <a:buSzPts val="1400"/>
              <a:buChar char="●"/>
            </a:pPr>
            <a:r>
              <a:rPr lang="en" b="1" dirty="0"/>
              <a:t>In Excel, we removed variables such as the date, hour, holiday, casual and registered bike renters. This is because the date had characters such as “/” which would not affect our data.  </a:t>
            </a:r>
            <a:endParaRPr dirty="0"/>
          </a:p>
          <a:p>
            <a:pPr marL="0" lvl="0" indent="0" algn="l" rtl="0">
              <a:lnSpc>
                <a:spcPct val="115000"/>
              </a:lnSpc>
              <a:spcBef>
                <a:spcPts val="1400"/>
              </a:spcBef>
              <a:spcAft>
                <a:spcPts val="0"/>
              </a:spcAft>
              <a:buNone/>
            </a:pPr>
            <a:r>
              <a:rPr lang="en" b="1" dirty="0"/>
              <a:t>In R/Python</a:t>
            </a:r>
            <a:endParaRPr b="1" dirty="0"/>
          </a:p>
          <a:p>
            <a:pPr marL="457200" lvl="0" indent="-298450" algn="l" rtl="0">
              <a:lnSpc>
                <a:spcPct val="115000"/>
              </a:lnSpc>
              <a:spcBef>
                <a:spcPts val="1200"/>
              </a:spcBef>
              <a:spcAft>
                <a:spcPts val="0"/>
              </a:spcAft>
              <a:buSzPts val="1100"/>
              <a:buChar char="●"/>
            </a:pPr>
            <a:r>
              <a:rPr lang="en" sz="1100" dirty="0"/>
              <a:t>Imported dataset</a:t>
            </a:r>
            <a:br>
              <a:rPr lang="en" sz="1100" dirty="0"/>
            </a:br>
            <a:endParaRPr sz="1100" dirty="0"/>
          </a:p>
          <a:p>
            <a:pPr marL="457200" lvl="0" indent="-298450" algn="l" rtl="0">
              <a:lnSpc>
                <a:spcPct val="115000"/>
              </a:lnSpc>
              <a:spcBef>
                <a:spcPts val="0"/>
              </a:spcBef>
              <a:spcAft>
                <a:spcPts val="0"/>
              </a:spcAft>
              <a:buSzPts val="1100"/>
              <a:buChar char="●"/>
            </a:pPr>
            <a:r>
              <a:rPr lang="en" sz="1100" dirty="0"/>
              <a:t>Removed missing values</a:t>
            </a:r>
            <a:br>
              <a:rPr lang="en" sz="1100" dirty="0"/>
            </a:br>
            <a:endParaRPr sz="1100" dirty="0"/>
          </a:p>
          <a:p>
            <a:pPr marL="457200" lvl="0" indent="-298450" algn="l" rtl="0">
              <a:lnSpc>
                <a:spcPct val="115000"/>
              </a:lnSpc>
              <a:spcBef>
                <a:spcPts val="0"/>
              </a:spcBef>
              <a:spcAft>
                <a:spcPts val="0"/>
              </a:spcAft>
              <a:buSzPts val="1100"/>
              <a:buChar char="●"/>
            </a:pPr>
            <a:r>
              <a:rPr lang="en" sz="1100" dirty="0"/>
              <a:t>Rescaled response if needed</a:t>
            </a:r>
            <a:br>
              <a:rPr lang="en" sz="1100" dirty="0"/>
            </a:br>
            <a:endParaRPr sz="1100" dirty="0"/>
          </a:p>
          <a:p>
            <a:pPr marL="457200" lvl="0" indent="-298450" algn="l" rtl="0">
              <a:lnSpc>
                <a:spcPct val="115000"/>
              </a:lnSpc>
              <a:spcBef>
                <a:spcPts val="0"/>
              </a:spcBef>
              <a:spcAft>
                <a:spcPts val="0"/>
              </a:spcAft>
              <a:buSzPts val="1100"/>
              <a:buChar char="●"/>
            </a:pPr>
            <a:r>
              <a:rPr lang="en" sz="1100" dirty="0"/>
              <a:t>Verified data type</a:t>
            </a:r>
            <a:endParaRPr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graphicFrame>
        <p:nvGraphicFramePr>
          <p:cNvPr id="301" name="Google Shape;301;p17"/>
          <p:cNvGraphicFramePr/>
          <p:nvPr/>
        </p:nvGraphicFramePr>
        <p:xfrm>
          <a:off x="47625" y="37375"/>
          <a:ext cx="9048750" cy="4754350"/>
        </p:xfrm>
        <a:graphic>
          <a:graphicData uri="http://schemas.openxmlformats.org/drawingml/2006/table">
            <a:tbl>
              <a:tblPr>
                <a:noFill/>
                <a:tableStyleId>{1AC44F44-1B35-4D4D-A406-DE5902E111F4}</a:tableStyleId>
              </a:tblPr>
              <a:tblGrid>
                <a:gridCol w="3016250">
                  <a:extLst>
                    <a:ext uri="{9D8B030D-6E8A-4147-A177-3AD203B41FA5}">
                      <a16:colId xmlns:a16="http://schemas.microsoft.com/office/drawing/2014/main" val="20000"/>
                    </a:ext>
                  </a:extLst>
                </a:gridCol>
                <a:gridCol w="3016250">
                  <a:extLst>
                    <a:ext uri="{9D8B030D-6E8A-4147-A177-3AD203B41FA5}">
                      <a16:colId xmlns:a16="http://schemas.microsoft.com/office/drawing/2014/main" val="20001"/>
                    </a:ext>
                  </a:extLst>
                </a:gridCol>
                <a:gridCol w="3016250">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en" sz="1200"/>
                        <a:t>Variable Name</a:t>
                      </a:r>
                      <a:endParaRPr sz="1200"/>
                    </a:p>
                  </a:txBody>
                  <a:tcPr marL="91425" marR="91425" marT="91425" marB="91425">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t>Estimated Coefficient</a:t>
                      </a:r>
                      <a:endParaRPr sz="1200"/>
                    </a:p>
                  </a:txBody>
                  <a:tcPr marL="91425" marR="91425" marT="91425" marB="91425">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t>P-Value</a:t>
                      </a:r>
                      <a:endParaRPr sz="1200"/>
                    </a:p>
                  </a:txBody>
                  <a:tcPr marL="91425" marR="91425" marT="91425" marB="91425">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200"/>
                        <a:t>Season</a:t>
                      </a:r>
                      <a:endParaRPr sz="1200"/>
                    </a:p>
                  </a:txBody>
                  <a:tcPr marL="91425" marR="91425"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0.48943</a:t>
                      </a:r>
                      <a:endParaRPr/>
                    </a:p>
                  </a:txBody>
                  <a:tcPr marL="91425" marR="91425"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1.90e-12 ***</a:t>
                      </a:r>
                      <a:endParaRPr/>
                    </a:p>
                  </a:txBody>
                  <a:tcPr marL="91425" marR="91425" marT="91425" marB="91425">
                    <a:lnT w="9525" cap="flat" cmpd="sng">
                      <a:solidFill>
                        <a:srgbClr val="000000"/>
                      </a:solidFill>
                      <a:prstDash val="solid"/>
                      <a:round/>
                      <a:headEnd type="none" w="sm" len="sm"/>
                      <a:tailEnd type="none" w="sm" len="sm"/>
                    </a:lnT>
                  </a:tcPr>
                </a:tc>
                <a:extLst>
                  <a:ext uri="{0D108BD9-81ED-4DB2-BD59-A6C34878D82A}">
                    <a16:rowId xmlns:a16="http://schemas.microsoft.com/office/drawing/2014/main" val="10001"/>
                  </a:ext>
                </a:extLst>
              </a:tr>
              <a:tr h="411250">
                <a:tc>
                  <a:txBody>
                    <a:bodyPr/>
                    <a:lstStyle/>
                    <a:p>
                      <a:pPr marL="0" lvl="0" indent="0" algn="l" rtl="0">
                        <a:spcBef>
                          <a:spcPts val="0"/>
                        </a:spcBef>
                        <a:spcAft>
                          <a:spcPts val="0"/>
                        </a:spcAft>
                        <a:buNone/>
                      </a:pPr>
                      <a:r>
                        <a:rPr lang="en" sz="1200"/>
                        <a:t>Year</a:t>
                      </a:r>
                      <a:endParaRPr sz="1200"/>
                    </a:p>
                  </a:txBody>
                  <a:tcPr marL="91425" marR="91425" marT="91425" marB="91425"/>
                </a:tc>
                <a:tc>
                  <a:txBody>
                    <a:bodyPr/>
                    <a:lstStyle/>
                    <a:p>
                      <a:pPr marL="0" lvl="0" indent="0" algn="l" rtl="0">
                        <a:spcBef>
                          <a:spcPts val="0"/>
                        </a:spcBef>
                        <a:spcAft>
                          <a:spcPts val="0"/>
                        </a:spcAft>
                        <a:buNone/>
                      </a:pPr>
                      <a:r>
                        <a:rPr lang="en"/>
                        <a:t>2.06712</a:t>
                      </a:r>
                      <a:endParaRPr/>
                    </a:p>
                  </a:txBody>
                  <a:tcPr marL="91425" marR="91425" marT="91425" marB="91425"/>
                </a:tc>
                <a:tc>
                  <a:txBody>
                    <a:bodyPr/>
                    <a:lstStyle/>
                    <a:p>
                      <a:pPr marL="0" lvl="0" indent="0" algn="l" rtl="0">
                        <a:spcBef>
                          <a:spcPts val="0"/>
                        </a:spcBef>
                        <a:spcAft>
                          <a:spcPts val="0"/>
                        </a:spcAft>
                        <a:buNone/>
                      </a:pPr>
                      <a:r>
                        <a:rPr lang="en"/>
                        <a:t>&lt;2e-16 ***</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200"/>
                        <a:t>Month</a:t>
                      </a:r>
                      <a:endParaRPr sz="1200"/>
                    </a:p>
                  </a:txBody>
                  <a:tcPr marL="91425" marR="91425" marT="91425" marB="91425"/>
                </a:tc>
                <a:tc>
                  <a:txBody>
                    <a:bodyPr/>
                    <a:lstStyle/>
                    <a:p>
                      <a:pPr marL="0" lvl="0" indent="0" algn="l" rtl="0">
                        <a:spcBef>
                          <a:spcPts val="0"/>
                        </a:spcBef>
                        <a:spcAft>
                          <a:spcPts val="0"/>
                        </a:spcAft>
                        <a:buNone/>
                      </a:pPr>
                      <a:r>
                        <a:rPr lang="en"/>
                        <a:t>-0.03342</a:t>
                      </a:r>
                      <a:endParaRPr/>
                    </a:p>
                  </a:txBody>
                  <a:tcPr marL="91425" marR="91425" marT="91425" marB="91425"/>
                </a:tc>
                <a:tc>
                  <a:txBody>
                    <a:bodyPr/>
                    <a:lstStyle/>
                    <a:p>
                      <a:pPr marL="0" lvl="0" indent="0" algn="l" rtl="0">
                        <a:spcBef>
                          <a:spcPts val="0"/>
                        </a:spcBef>
                        <a:spcAft>
                          <a:spcPts val="0"/>
                        </a:spcAft>
                        <a:buNone/>
                      </a:pPr>
                      <a:r>
                        <a:rPr lang="en"/>
                        <a:t>0.11620</a:t>
                      </a: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200"/>
                        <a:t>Weekday</a:t>
                      </a:r>
                      <a:endParaRPr sz="1200"/>
                    </a:p>
                  </a:txBody>
                  <a:tcPr marL="91425" marR="91425" marT="91425" marB="91425"/>
                </a:tc>
                <a:tc>
                  <a:txBody>
                    <a:bodyPr/>
                    <a:lstStyle/>
                    <a:p>
                      <a:pPr marL="0" lvl="0" indent="0" algn="l" rtl="0">
                        <a:spcBef>
                          <a:spcPts val="0"/>
                        </a:spcBef>
                        <a:spcAft>
                          <a:spcPts val="0"/>
                        </a:spcAft>
                        <a:buNone/>
                      </a:pPr>
                      <a:r>
                        <a:rPr lang="en"/>
                        <a:t>0.05503</a:t>
                      </a:r>
                      <a:endParaRPr/>
                    </a:p>
                  </a:txBody>
                  <a:tcPr marL="91425" marR="91425" marT="91425" marB="91425"/>
                </a:tc>
                <a:tc>
                  <a:txBody>
                    <a:bodyPr/>
                    <a:lstStyle/>
                    <a:p>
                      <a:pPr marL="0" lvl="0" indent="0" algn="l" rtl="0">
                        <a:spcBef>
                          <a:spcPts val="0"/>
                        </a:spcBef>
                        <a:spcAft>
                          <a:spcPts val="0"/>
                        </a:spcAft>
                        <a:buNone/>
                      </a:pPr>
                      <a:r>
                        <a:rPr lang="en"/>
                        <a:t>0.00603 **</a:t>
                      </a:r>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sz="1200"/>
                        <a:t>Working Day</a:t>
                      </a:r>
                      <a:endParaRPr sz="1200"/>
                    </a:p>
                  </a:txBody>
                  <a:tcPr marL="91425" marR="91425" marT="91425" marB="91425"/>
                </a:tc>
                <a:tc>
                  <a:txBody>
                    <a:bodyPr/>
                    <a:lstStyle/>
                    <a:p>
                      <a:pPr marL="0" lvl="0" indent="0" algn="l" rtl="0">
                        <a:spcBef>
                          <a:spcPts val="0"/>
                        </a:spcBef>
                        <a:spcAft>
                          <a:spcPts val="0"/>
                        </a:spcAft>
                        <a:buNone/>
                      </a:pPr>
                      <a:r>
                        <a:rPr lang="en"/>
                        <a:t>0.14324</a:t>
                      </a:r>
                      <a:endParaRPr/>
                    </a:p>
                  </a:txBody>
                  <a:tcPr marL="91425" marR="91425" marT="91425" marB="91425"/>
                </a:tc>
                <a:tc>
                  <a:txBody>
                    <a:bodyPr/>
                    <a:lstStyle/>
                    <a:p>
                      <a:pPr marL="0" lvl="0" indent="0" algn="l" rtl="0">
                        <a:spcBef>
                          <a:spcPts val="0"/>
                        </a:spcBef>
                        <a:spcAft>
                          <a:spcPts val="0"/>
                        </a:spcAft>
                        <a:buNone/>
                      </a:pPr>
                      <a:r>
                        <a:rPr lang="en"/>
                        <a:t>0.09130</a:t>
                      </a:r>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 sz="1200"/>
                        <a:t>Weather Situation</a:t>
                      </a:r>
                      <a:endParaRPr sz="12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-0.54344</a:t>
                      </a:r>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7.26e-08 ***</a:t>
                      </a:r>
                      <a:endParaRPr/>
                    </a:p>
                  </a:txBody>
                  <a:tcPr marL="91425" marR="91425" marT="91425" marB="91425"/>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r>
                        <a:rPr lang="en" sz="1200"/>
                        <a:t>Temperature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2.35733</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0.11881</a:t>
                      </a:r>
                      <a:endParaRPr/>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7"/>
                  </a:ext>
                </a:extLst>
              </a:tr>
              <a:tr h="381000">
                <a:tc>
                  <a:txBody>
                    <a:bodyPr/>
                    <a:lstStyle/>
                    <a:p>
                      <a:pPr marL="0" lvl="0" indent="0" algn="l" rtl="0">
                        <a:spcBef>
                          <a:spcPts val="0"/>
                        </a:spcBef>
                        <a:spcAft>
                          <a:spcPts val="0"/>
                        </a:spcAft>
                        <a:buNone/>
                      </a:pPr>
                      <a:r>
                        <a:rPr lang="en" sz="1200"/>
                        <a:t>Feel like temperature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3.18965</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0.06234</a:t>
                      </a:r>
                      <a:endParaRPr/>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8"/>
                  </a:ext>
                </a:extLst>
              </a:tr>
              <a:tr h="381000">
                <a:tc>
                  <a:txBody>
                    <a:bodyPr/>
                    <a:lstStyle/>
                    <a:p>
                      <a:pPr marL="0" lvl="0" indent="0" algn="l" rtl="0">
                        <a:spcBef>
                          <a:spcPts val="0"/>
                        </a:spcBef>
                        <a:spcAft>
                          <a:spcPts val="0"/>
                        </a:spcAft>
                        <a:buNone/>
                      </a:pPr>
                      <a:r>
                        <a:rPr lang="en" sz="1200"/>
                        <a:t>Humidity</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-1.12575</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0.00475 **</a:t>
                      </a:r>
                      <a:endParaRPr/>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9"/>
                  </a:ext>
                </a:extLst>
              </a:tr>
              <a:tr h="381000">
                <a:tc>
                  <a:txBody>
                    <a:bodyPr/>
                    <a:lstStyle/>
                    <a:p>
                      <a:pPr marL="0" lvl="0" indent="0" algn="l" rtl="0">
                        <a:spcBef>
                          <a:spcPts val="0"/>
                        </a:spcBef>
                        <a:spcAft>
                          <a:spcPts val="0"/>
                        </a:spcAft>
                        <a:buNone/>
                      </a:pPr>
                      <a:r>
                        <a:rPr lang="en" sz="1200"/>
                        <a:t>Windspeed</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-2.49310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5.89e-06 ***</a:t>
                      </a:r>
                      <a:endParaRPr/>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10"/>
                  </a:ext>
                </a:extLst>
              </a:tr>
              <a:tr h="381000">
                <a:tc>
                  <a:txBody>
                    <a:bodyPr/>
                    <a:lstStyle/>
                    <a:p>
                      <a:pPr marL="0" lvl="0" indent="0" algn="l" rtl="0">
                        <a:spcBef>
                          <a:spcPts val="0"/>
                        </a:spcBef>
                        <a:spcAft>
                          <a:spcPts val="0"/>
                        </a:spcAft>
                        <a:buNone/>
                      </a:pPr>
                      <a:r>
                        <a:rPr lang="en" sz="1200"/>
                        <a:t>Count</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1.47052</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5.24e-07 ***</a:t>
                      </a:r>
                      <a:endParaRPr/>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1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graphicFrame>
        <p:nvGraphicFramePr>
          <p:cNvPr id="306" name="Google Shape;306;p18"/>
          <p:cNvGraphicFramePr/>
          <p:nvPr/>
        </p:nvGraphicFramePr>
        <p:xfrm>
          <a:off x="952500" y="743075"/>
          <a:ext cx="7239000" cy="3657420"/>
        </p:xfrm>
        <a:graphic>
          <a:graphicData uri="http://schemas.openxmlformats.org/drawingml/2006/table">
            <a:tbl>
              <a:tblPr>
                <a:noFill/>
                <a:tableStyleId>{1AC44F44-1B35-4D4D-A406-DE5902E111F4}</a:tableStyleId>
              </a:tblPr>
              <a:tblGrid>
                <a:gridCol w="1297550">
                  <a:extLst>
                    <a:ext uri="{9D8B030D-6E8A-4147-A177-3AD203B41FA5}">
                      <a16:colId xmlns:a16="http://schemas.microsoft.com/office/drawing/2014/main" val="20000"/>
                    </a:ext>
                  </a:extLst>
                </a:gridCol>
                <a:gridCol w="594145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
                        <a:t>Model</a:t>
                      </a:r>
                      <a:endParaRPr/>
                    </a:p>
                  </a:txBody>
                  <a:tcPr marL="91425" marR="91425" marT="91425" marB="91425"/>
                </a:tc>
                <a:tc>
                  <a:txBody>
                    <a:bodyPr/>
                    <a:lstStyle/>
                    <a:p>
                      <a:pPr marL="0" lvl="0" indent="0" algn="l" rtl="0">
                        <a:spcBef>
                          <a:spcPts val="0"/>
                        </a:spcBef>
                        <a:spcAft>
                          <a:spcPts val="0"/>
                        </a:spcAft>
                        <a:buNone/>
                      </a:pPr>
                      <a:r>
                        <a:rPr lang="en"/>
                        <a:t>Variables Included</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t>Model 1</a:t>
                      </a:r>
                      <a:endParaRPr/>
                    </a:p>
                  </a:txBody>
                  <a:tcPr marL="91425" marR="91425" marT="91425" marB="91425"/>
                </a:tc>
                <a:tc>
                  <a:txBody>
                    <a:bodyPr/>
                    <a:lstStyle/>
                    <a:p>
                      <a:pPr marL="0" lvl="0" indent="0" algn="l" rtl="0">
                        <a:spcBef>
                          <a:spcPts val="0"/>
                        </a:spcBef>
                        <a:spcAft>
                          <a:spcPts val="0"/>
                        </a:spcAft>
                        <a:buNone/>
                      </a:pPr>
                      <a:r>
                        <a:rPr lang="en"/>
                        <a:t>Season, Year, Month, Weekday, Workday, Weather Situation, Temperature, Feel Like Temperature, Humidity, Windspeed</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t>Model 2</a:t>
                      </a:r>
                      <a:endParaRPr/>
                    </a:p>
                  </a:txBody>
                  <a:tcPr marL="91425" marR="91425" marT="91425" marB="91425"/>
                </a:tc>
                <a:tc>
                  <a:txBody>
                    <a:bodyPr/>
                    <a:lstStyle/>
                    <a:p>
                      <a:pPr marL="0" lvl="0" indent="0" algn="l" rtl="0">
                        <a:spcBef>
                          <a:spcPts val="0"/>
                        </a:spcBef>
                        <a:spcAft>
                          <a:spcPts val="0"/>
                        </a:spcAft>
                        <a:buNone/>
                      </a:pPr>
                      <a:r>
                        <a:rPr lang="en"/>
                        <a:t>Season, Year, Weekday, Weather Situation, Humidity, Windspeed</a:t>
                      </a:r>
                      <a:endParaRPr/>
                    </a:p>
                  </a:txBody>
                  <a:tcPr marL="91425" marR="91425" marT="91425" marB="91425">
                    <a:lnB w="9525" cap="flat" cmpd="sng">
                      <a:solidFill>
                        <a:srgbClr val="B7B7B7"/>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t>Model 3</a:t>
                      </a:r>
                      <a:endParaRPr/>
                    </a:p>
                  </a:txBody>
                  <a:tcPr marL="91425" marR="91425" marT="91425" marB="91425">
                    <a:lnR w="9525" cap="flat" cmpd="sng">
                      <a:solidFill>
                        <a:srgbClr val="B7B7B7"/>
                      </a:solidFill>
                      <a:prstDash val="solid"/>
                      <a:round/>
                      <a:headEnd type="none" w="sm" len="sm"/>
                      <a:tailEnd type="none" w="sm" len="sm"/>
                    </a:lnR>
                  </a:tcPr>
                </a:tc>
                <a:tc>
                  <a:txBody>
                    <a:bodyPr/>
                    <a:lstStyle/>
                    <a:p>
                      <a:pPr marL="0" lvl="0" indent="0" algn="l" rtl="0">
                        <a:spcBef>
                          <a:spcPts val="0"/>
                        </a:spcBef>
                        <a:spcAft>
                          <a:spcPts val="0"/>
                        </a:spcAft>
                        <a:buNone/>
                      </a:pPr>
                      <a:r>
                        <a:rPr lang="en"/>
                        <a:t>Season, Year, Month, Weekday, Working Day, Weather Situation, Temperature, Feel Like Temperature, Humidity, Wind Speed * humidity + Temperature * Weather Situation</a:t>
                      </a:r>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t>Model 4</a:t>
                      </a:r>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a:t>Season, Year, Month, Weekday, Working Day, Weather Situation, Temperature, Feel Like Temperature, Humidity, Feel Like Temperature ^2, Humidity ^2.</a:t>
                      </a:r>
                      <a:endParaRPr/>
                    </a:p>
                    <a:p>
                      <a:pPr marL="0" lvl="0" indent="0" algn="l" rtl="0">
                        <a:spcBef>
                          <a:spcPts val="0"/>
                        </a:spcBef>
                        <a:spcAft>
                          <a:spcPts val="0"/>
                        </a:spcAft>
                        <a:buNone/>
                      </a:pPr>
                      <a:endParaRPr/>
                    </a:p>
                  </a:txBody>
                  <a:tcPr marL="91425" marR="91425" marT="91425" marB="91425">
                    <a:lnT w="9525" cap="flat" cmpd="sng">
                      <a:solidFill>
                        <a:srgbClr val="B7B7B7"/>
                      </a:solidFill>
                      <a:prstDash val="solid"/>
                      <a:round/>
                      <a:headEnd type="none" w="sm" len="sm"/>
                      <a:tailEnd type="none" w="sm" len="sm"/>
                    </a:lnT>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a:t>Model 5</a:t>
                      </a:r>
                      <a:endParaRPr/>
                    </a:p>
                  </a:txBody>
                  <a:tcPr marL="91425" marR="91425" marT="91425" marB="91425"/>
                </a:tc>
                <a:tc>
                  <a:txBody>
                    <a:bodyPr/>
                    <a:lstStyle/>
                    <a:p>
                      <a:pPr marL="0" lvl="0" indent="0" algn="l" rtl="0">
                        <a:spcBef>
                          <a:spcPts val="0"/>
                        </a:spcBef>
                        <a:spcAft>
                          <a:spcPts val="0"/>
                        </a:spcAft>
                        <a:buNone/>
                      </a:pPr>
                      <a:r>
                        <a:rPr lang="en"/>
                        <a:t>Weather Situation</a:t>
                      </a:r>
                      <a:endParaRPr/>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graphicFrame>
        <p:nvGraphicFramePr>
          <p:cNvPr id="311" name="Google Shape;311;p19"/>
          <p:cNvGraphicFramePr/>
          <p:nvPr/>
        </p:nvGraphicFramePr>
        <p:xfrm>
          <a:off x="980650" y="1470975"/>
          <a:ext cx="7239000" cy="2286000"/>
        </p:xfrm>
        <a:graphic>
          <a:graphicData uri="http://schemas.openxmlformats.org/drawingml/2006/table">
            <a:tbl>
              <a:tblPr>
                <a:noFill/>
                <a:tableStyleId>{1AC44F44-1B35-4D4D-A406-DE5902E111F4}</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en" sz="1200"/>
                        <a:t>Models</a:t>
                      </a:r>
                      <a:endParaRPr sz="1200"/>
                    </a:p>
                  </a:txBody>
                  <a:tcPr marL="91425" marR="91425" marT="91425" marB="91425"/>
                </a:tc>
                <a:tc>
                  <a:txBody>
                    <a:bodyPr/>
                    <a:lstStyle/>
                    <a:p>
                      <a:pPr marL="0" lvl="0" indent="0" algn="l" rtl="0">
                        <a:spcBef>
                          <a:spcPts val="0"/>
                        </a:spcBef>
                        <a:spcAft>
                          <a:spcPts val="0"/>
                        </a:spcAft>
                        <a:buNone/>
                      </a:pPr>
                      <a:r>
                        <a:rPr lang="en" sz="1200"/>
                        <a:t>Validation Set MSE (100 Inter.)</a:t>
                      </a:r>
                      <a:endParaRPr sz="1200"/>
                    </a:p>
                  </a:txBody>
                  <a:tcPr marL="91425" marR="91425" marT="91425" marB="91425"/>
                </a:tc>
                <a:tc>
                  <a:txBody>
                    <a:bodyPr/>
                    <a:lstStyle/>
                    <a:p>
                      <a:pPr marL="0" lvl="0" indent="0" algn="l" rtl="0">
                        <a:spcBef>
                          <a:spcPts val="0"/>
                        </a:spcBef>
                        <a:spcAft>
                          <a:spcPts val="0"/>
                        </a:spcAft>
                        <a:buNone/>
                      </a:pPr>
                      <a:r>
                        <a:rPr lang="en" sz="1200"/>
                        <a:t>Validation Set MSE (200 Inter.)</a:t>
                      </a:r>
                      <a:endParaRPr sz="1200"/>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200"/>
                        <a:t>Model 1</a:t>
                      </a:r>
                      <a:endParaRPr sz="1200"/>
                    </a:p>
                  </a:txBody>
                  <a:tcPr marL="91425" marR="91425" marT="91425" marB="91425"/>
                </a:tc>
                <a:tc>
                  <a:txBody>
                    <a:bodyPr/>
                    <a:lstStyle/>
                    <a:p>
                      <a:pPr marL="0" lvl="0" indent="0" algn="l" rtl="0">
                        <a:spcBef>
                          <a:spcPts val="0"/>
                        </a:spcBef>
                        <a:spcAft>
                          <a:spcPts val="0"/>
                        </a:spcAft>
                        <a:buNone/>
                      </a:pPr>
                      <a:r>
                        <a:rPr lang="en" sz="1200"/>
                        <a:t>0.7562</a:t>
                      </a:r>
                      <a:endParaRPr sz="1200"/>
                    </a:p>
                  </a:txBody>
                  <a:tcPr marL="91425" marR="91425" marT="91425" marB="91425"/>
                </a:tc>
                <a:tc>
                  <a:txBody>
                    <a:bodyPr/>
                    <a:lstStyle/>
                    <a:p>
                      <a:pPr marL="0" lvl="0" indent="0" algn="l" rtl="0">
                        <a:spcBef>
                          <a:spcPts val="0"/>
                        </a:spcBef>
                        <a:spcAft>
                          <a:spcPts val="0"/>
                        </a:spcAft>
                        <a:buNone/>
                      </a:pPr>
                      <a:r>
                        <a:rPr lang="en" sz="1200"/>
                        <a:t>0.8924</a:t>
                      </a:r>
                      <a:endParaRPr sz="120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200"/>
                        <a:t>Model 2</a:t>
                      </a:r>
                      <a:endParaRPr sz="1200"/>
                    </a:p>
                  </a:txBody>
                  <a:tcPr marL="91425" marR="91425" marT="91425" marB="91425"/>
                </a:tc>
                <a:tc>
                  <a:txBody>
                    <a:bodyPr/>
                    <a:lstStyle/>
                    <a:p>
                      <a:pPr marL="0" lvl="0" indent="0" algn="l" rtl="0">
                        <a:spcBef>
                          <a:spcPts val="0"/>
                        </a:spcBef>
                        <a:spcAft>
                          <a:spcPts val="0"/>
                        </a:spcAft>
                        <a:buNone/>
                      </a:pPr>
                      <a:r>
                        <a:rPr lang="en" sz="1200"/>
                        <a:t>2.9003</a:t>
                      </a:r>
                      <a:endParaRPr sz="1200"/>
                    </a:p>
                  </a:txBody>
                  <a:tcPr marL="91425" marR="91425" marT="91425" marB="91425"/>
                </a:tc>
                <a:tc>
                  <a:txBody>
                    <a:bodyPr/>
                    <a:lstStyle/>
                    <a:p>
                      <a:pPr marL="0" lvl="0" indent="0" algn="l" rtl="0">
                        <a:spcBef>
                          <a:spcPts val="0"/>
                        </a:spcBef>
                        <a:spcAft>
                          <a:spcPts val="0"/>
                        </a:spcAft>
                        <a:buNone/>
                      </a:pPr>
                      <a:r>
                        <a:rPr lang="en" sz="1200"/>
                        <a:t>2.8673</a:t>
                      </a:r>
                      <a:endParaRPr sz="120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200"/>
                        <a:t>Model 3</a:t>
                      </a:r>
                      <a:endParaRPr sz="1200"/>
                    </a:p>
                  </a:txBody>
                  <a:tcPr marL="91425" marR="91425" marT="91425" marB="91425"/>
                </a:tc>
                <a:tc>
                  <a:txBody>
                    <a:bodyPr/>
                    <a:lstStyle/>
                    <a:p>
                      <a:pPr marL="0" lvl="0" indent="0" algn="l" rtl="0">
                        <a:spcBef>
                          <a:spcPts val="0"/>
                        </a:spcBef>
                        <a:spcAft>
                          <a:spcPts val="0"/>
                        </a:spcAft>
                        <a:buNone/>
                      </a:pPr>
                      <a:r>
                        <a:rPr lang="en" sz="1200"/>
                        <a:t>0.7663</a:t>
                      </a:r>
                      <a:endParaRPr sz="1200"/>
                    </a:p>
                  </a:txBody>
                  <a:tcPr marL="91425" marR="91425" marT="91425" marB="91425"/>
                </a:tc>
                <a:tc>
                  <a:txBody>
                    <a:bodyPr/>
                    <a:lstStyle/>
                    <a:p>
                      <a:pPr marL="0" lvl="0" indent="0" algn="l" rtl="0">
                        <a:spcBef>
                          <a:spcPts val="0"/>
                        </a:spcBef>
                        <a:spcAft>
                          <a:spcPts val="0"/>
                        </a:spcAft>
                        <a:buNone/>
                      </a:pPr>
                      <a:r>
                        <a:rPr lang="en" sz="1200"/>
                        <a:t>0.8811</a:t>
                      </a:r>
                      <a:endParaRPr sz="1200"/>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200"/>
                        <a:t>Model 4</a:t>
                      </a:r>
                      <a:endParaRPr sz="1200"/>
                    </a:p>
                  </a:txBody>
                  <a:tcPr marL="91425" marR="91425" marT="91425" marB="91425"/>
                </a:tc>
                <a:tc>
                  <a:txBody>
                    <a:bodyPr/>
                    <a:lstStyle/>
                    <a:p>
                      <a:pPr marL="0" lvl="0" indent="0" algn="l" rtl="0">
                        <a:spcBef>
                          <a:spcPts val="0"/>
                        </a:spcBef>
                        <a:spcAft>
                          <a:spcPts val="0"/>
                        </a:spcAft>
                        <a:buNone/>
                      </a:pPr>
                      <a:r>
                        <a:rPr lang="en" sz="1200"/>
                        <a:t>0.6154</a:t>
                      </a:r>
                      <a:endParaRPr sz="1200"/>
                    </a:p>
                  </a:txBody>
                  <a:tcPr marL="91425" marR="91425" marT="91425" marB="91425"/>
                </a:tc>
                <a:tc>
                  <a:txBody>
                    <a:bodyPr/>
                    <a:lstStyle/>
                    <a:p>
                      <a:pPr marL="0" lvl="0" indent="0" algn="l" rtl="0">
                        <a:spcBef>
                          <a:spcPts val="0"/>
                        </a:spcBef>
                        <a:spcAft>
                          <a:spcPts val="0"/>
                        </a:spcAft>
                        <a:buNone/>
                      </a:pPr>
                      <a:r>
                        <a:rPr lang="en" sz="1200"/>
                        <a:t>0.7349</a:t>
                      </a:r>
                      <a:endParaRPr sz="1200"/>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sz="1200"/>
                        <a:t>Model 5</a:t>
                      </a:r>
                      <a:endParaRPr sz="1200"/>
                    </a:p>
                  </a:txBody>
                  <a:tcPr marL="91425" marR="91425" marT="91425" marB="91425"/>
                </a:tc>
                <a:tc>
                  <a:txBody>
                    <a:bodyPr/>
                    <a:lstStyle/>
                    <a:p>
                      <a:pPr marL="0" lvl="0" indent="0" algn="l" rtl="0">
                        <a:spcBef>
                          <a:spcPts val="0"/>
                        </a:spcBef>
                        <a:spcAft>
                          <a:spcPts val="0"/>
                        </a:spcAft>
                        <a:buNone/>
                      </a:pPr>
                      <a:r>
                        <a:rPr lang="en" sz="1200"/>
                        <a:t>3.2531</a:t>
                      </a:r>
                      <a:endParaRPr sz="1200"/>
                    </a:p>
                  </a:txBody>
                  <a:tcPr marL="91425" marR="91425" marT="91425" marB="91425"/>
                </a:tc>
                <a:tc>
                  <a:txBody>
                    <a:bodyPr/>
                    <a:lstStyle/>
                    <a:p>
                      <a:pPr marL="0" lvl="0" indent="0" algn="l" rtl="0">
                        <a:spcBef>
                          <a:spcPts val="0"/>
                        </a:spcBef>
                        <a:spcAft>
                          <a:spcPts val="0"/>
                        </a:spcAft>
                        <a:buNone/>
                      </a:pPr>
                      <a:r>
                        <a:rPr lang="en" sz="1200"/>
                        <a:t>3.2526</a:t>
                      </a:r>
                      <a:endParaRPr sz="1200"/>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graphicFrame>
        <p:nvGraphicFramePr>
          <p:cNvPr id="316" name="Google Shape;316;p20"/>
          <p:cNvGraphicFramePr/>
          <p:nvPr/>
        </p:nvGraphicFramePr>
        <p:xfrm>
          <a:off x="952500" y="1428750"/>
          <a:ext cx="7239000" cy="2377260"/>
        </p:xfrm>
        <a:graphic>
          <a:graphicData uri="http://schemas.openxmlformats.org/drawingml/2006/table">
            <a:tbl>
              <a:tblPr>
                <a:noFill/>
                <a:tableStyleId>{1AC44F44-1B35-4D4D-A406-DE5902E111F4}</a:tableStyleId>
              </a:tblPr>
              <a:tblGrid>
                <a:gridCol w="18097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en"/>
                        <a:t>Models</a:t>
                      </a:r>
                      <a:endParaRPr/>
                    </a:p>
                  </a:txBody>
                  <a:tcPr marL="91425" marR="91425" marT="91425" marB="91425"/>
                </a:tc>
                <a:tc>
                  <a:txBody>
                    <a:bodyPr/>
                    <a:lstStyle/>
                    <a:p>
                      <a:pPr marL="0" lvl="0" indent="0" algn="l" rtl="0">
                        <a:spcBef>
                          <a:spcPts val="0"/>
                        </a:spcBef>
                        <a:spcAft>
                          <a:spcPts val="0"/>
                        </a:spcAft>
                        <a:buNone/>
                      </a:pPr>
                      <a:r>
                        <a:rPr lang="en"/>
                        <a:t>LOOCV MSE</a:t>
                      </a:r>
                      <a:endParaRPr/>
                    </a:p>
                  </a:txBody>
                  <a:tcPr marL="91425" marR="91425" marT="91425" marB="91425"/>
                </a:tc>
                <a:tc>
                  <a:txBody>
                    <a:bodyPr/>
                    <a:lstStyle/>
                    <a:p>
                      <a:pPr marL="0" lvl="0" indent="0" algn="l" rtl="0">
                        <a:spcBef>
                          <a:spcPts val="0"/>
                        </a:spcBef>
                        <a:spcAft>
                          <a:spcPts val="0"/>
                        </a:spcAft>
                        <a:buNone/>
                      </a:pPr>
                      <a:r>
                        <a:rPr lang="en"/>
                        <a:t>5-Fold CV MSE</a:t>
                      </a:r>
                      <a:endParaRPr/>
                    </a:p>
                  </a:txBody>
                  <a:tcPr marL="91425" marR="91425" marT="91425" marB="91425"/>
                </a:tc>
                <a:tc>
                  <a:txBody>
                    <a:bodyPr/>
                    <a:lstStyle/>
                    <a:p>
                      <a:pPr marL="0" lvl="0" indent="0" algn="l" rtl="0">
                        <a:spcBef>
                          <a:spcPts val="0"/>
                        </a:spcBef>
                        <a:spcAft>
                          <a:spcPts val="0"/>
                        </a:spcAft>
                        <a:buNone/>
                      </a:pPr>
                      <a:r>
                        <a:rPr lang="en"/>
                        <a:t>10-Fold CV MSE</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t>Model 1</a:t>
                      </a:r>
                      <a:endParaRPr/>
                    </a:p>
                  </a:txBody>
                  <a:tcPr marL="91425" marR="91425" marT="91425" marB="91425"/>
                </a:tc>
                <a:tc>
                  <a:txBody>
                    <a:bodyPr/>
                    <a:lstStyle/>
                    <a:p>
                      <a:pPr marL="0" lvl="0" indent="0" algn="l" rtl="0">
                        <a:spcBef>
                          <a:spcPts val="0"/>
                        </a:spcBef>
                        <a:spcAft>
                          <a:spcPts val="0"/>
                        </a:spcAft>
                        <a:buNone/>
                      </a:pPr>
                      <a:r>
                        <a:rPr lang="en"/>
                        <a:t>0.7981</a:t>
                      </a:r>
                      <a:endParaRPr/>
                    </a:p>
                  </a:txBody>
                  <a:tcPr marL="91425" marR="91425" marT="91425" marB="91425"/>
                </a:tc>
                <a:tc>
                  <a:txBody>
                    <a:bodyPr/>
                    <a:lstStyle/>
                    <a:p>
                      <a:pPr marL="0" lvl="0" indent="0" algn="l" rtl="0">
                        <a:spcBef>
                          <a:spcPts val="0"/>
                        </a:spcBef>
                        <a:spcAft>
                          <a:spcPts val="0"/>
                        </a:spcAft>
                        <a:buNone/>
                      </a:pPr>
                      <a:r>
                        <a:rPr lang="en"/>
                        <a:t>0.8158</a:t>
                      </a:r>
                      <a:endParaRPr/>
                    </a:p>
                  </a:txBody>
                  <a:tcPr marL="91425" marR="91425" marT="91425" marB="91425"/>
                </a:tc>
                <a:tc>
                  <a:txBody>
                    <a:bodyPr/>
                    <a:lstStyle/>
                    <a:p>
                      <a:pPr marL="0" lvl="0" indent="0" algn="l" rtl="0">
                        <a:spcBef>
                          <a:spcPts val="0"/>
                        </a:spcBef>
                        <a:spcAft>
                          <a:spcPts val="0"/>
                        </a:spcAft>
                        <a:buNone/>
                      </a:pPr>
                      <a:r>
                        <a:rPr lang="en"/>
                        <a:t>0.7999</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t>Model 2</a:t>
                      </a:r>
                      <a:endParaRPr/>
                    </a:p>
                  </a:txBody>
                  <a:tcPr marL="91425" marR="91425" marT="91425" marB="91425"/>
                </a:tc>
                <a:tc>
                  <a:txBody>
                    <a:bodyPr/>
                    <a:lstStyle/>
                    <a:p>
                      <a:pPr marL="0" lvl="0" indent="0" algn="l" rtl="0">
                        <a:spcBef>
                          <a:spcPts val="0"/>
                        </a:spcBef>
                        <a:spcAft>
                          <a:spcPts val="0"/>
                        </a:spcAft>
                        <a:buNone/>
                      </a:pPr>
                      <a:r>
                        <a:rPr lang="en"/>
                        <a:t>3.0306</a:t>
                      </a:r>
                      <a:endParaRPr/>
                    </a:p>
                  </a:txBody>
                  <a:tcPr marL="91425" marR="91425" marT="91425" marB="91425"/>
                </a:tc>
                <a:tc>
                  <a:txBody>
                    <a:bodyPr/>
                    <a:lstStyle/>
                    <a:p>
                      <a:pPr marL="0" lvl="0" indent="0" algn="l" rtl="0">
                        <a:spcBef>
                          <a:spcPts val="0"/>
                        </a:spcBef>
                        <a:spcAft>
                          <a:spcPts val="0"/>
                        </a:spcAft>
                        <a:buNone/>
                      </a:pPr>
                      <a:r>
                        <a:rPr lang="en"/>
                        <a:t>3.0091</a:t>
                      </a:r>
                      <a:endParaRPr/>
                    </a:p>
                  </a:txBody>
                  <a:tcPr marL="91425" marR="91425" marT="91425" marB="91425"/>
                </a:tc>
                <a:tc>
                  <a:txBody>
                    <a:bodyPr/>
                    <a:lstStyle/>
                    <a:p>
                      <a:pPr marL="0" lvl="0" indent="0" algn="l" rtl="0">
                        <a:spcBef>
                          <a:spcPts val="0"/>
                        </a:spcBef>
                        <a:spcAft>
                          <a:spcPts val="0"/>
                        </a:spcAft>
                        <a:buNone/>
                      </a:pPr>
                      <a:r>
                        <a:rPr lang="en"/>
                        <a:t>3.0318</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t>Model 3</a:t>
                      </a:r>
                      <a:endParaRPr/>
                    </a:p>
                  </a:txBody>
                  <a:tcPr marL="91425" marR="91425" marT="91425" marB="91425"/>
                </a:tc>
                <a:tc>
                  <a:txBody>
                    <a:bodyPr/>
                    <a:lstStyle/>
                    <a:p>
                      <a:pPr marL="0" lvl="0" indent="0" algn="l" rtl="0">
                        <a:spcBef>
                          <a:spcPts val="0"/>
                        </a:spcBef>
                        <a:spcAft>
                          <a:spcPts val="0"/>
                        </a:spcAft>
                        <a:buNone/>
                      </a:pPr>
                      <a:r>
                        <a:rPr lang="en"/>
                        <a:t>0.7980</a:t>
                      </a:r>
                      <a:endParaRPr/>
                    </a:p>
                  </a:txBody>
                  <a:tcPr marL="91425" marR="91425" marT="91425" marB="91425"/>
                </a:tc>
                <a:tc>
                  <a:txBody>
                    <a:bodyPr/>
                    <a:lstStyle/>
                    <a:p>
                      <a:pPr marL="0" lvl="0" indent="0" algn="l" rtl="0">
                        <a:spcBef>
                          <a:spcPts val="0"/>
                        </a:spcBef>
                        <a:spcAft>
                          <a:spcPts val="0"/>
                        </a:spcAft>
                        <a:buNone/>
                      </a:pPr>
                      <a:r>
                        <a:rPr lang="en"/>
                        <a:t>0.7983</a:t>
                      </a:r>
                      <a:endParaRPr/>
                    </a:p>
                  </a:txBody>
                  <a:tcPr marL="91425" marR="91425" marT="91425" marB="91425"/>
                </a:tc>
                <a:tc>
                  <a:txBody>
                    <a:bodyPr/>
                    <a:lstStyle/>
                    <a:p>
                      <a:pPr marL="0" lvl="0" indent="0" algn="l" rtl="0">
                        <a:spcBef>
                          <a:spcPts val="0"/>
                        </a:spcBef>
                        <a:spcAft>
                          <a:spcPts val="0"/>
                        </a:spcAft>
                        <a:buNone/>
                      </a:pPr>
                      <a:r>
                        <a:rPr lang="en"/>
                        <a:t>0.8125</a:t>
                      </a: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t>Model 4</a:t>
                      </a:r>
                      <a:endParaRPr/>
                    </a:p>
                  </a:txBody>
                  <a:tcPr marL="91425" marR="91425" marT="91425" marB="91425"/>
                </a:tc>
                <a:tc>
                  <a:txBody>
                    <a:bodyPr/>
                    <a:lstStyle/>
                    <a:p>
                      <a:pPr marL="0" lvl="0" indent="0" algn="l" rtl="0">
                        <a:spcBef>
                          <a:spcPts val="0"/>
                        </a:spcBef>
                        <a:spcAft>
                          <a:spcPts val="0"/>
                        </a:spcAft>
                        <a:buNone/>
                      </a:pPr>
                      <a:r>
                        <a:rPr lang="en"/>
                        <a:t>0.6345</a:t>
                      </a:r>
                      <a:endParaRPr/>
                    </a:p>
                  </a:txBody>
                  <a:tcPr marL="91425" marR="91425" marT="91425" marB="91425"/>
                </a:tc>
                <a:tc>
                  <a:txBody>
                    <a:bodyPr/>
                    <a:lstStyle/>
                    <a:p>
                      <a:pPr marL="0" lvl="0" indent="0" algn="l" rtl="0">
                        <a:spcBef>
                          <a:spcPts val="0"/>
                        </a:spcBef>
                        <a:spcAft>
                          <a:spcPts val="0"/>
                        </a:spcAft>
                        <a:buNone/>
                      </a:pPr>
                      <a:r>
                        <a:rPr lang="en"/>
                        <a:t>0.6441</a:t>
                      </a:r>
                      <a:endParaRPr/>
                    </a:p>
                  </a:txBody>
                  <a:tcPr marL="91425" marR="91425" marT="91425" marB="91425"/>
                </a:tc>
                <a:tc>
                  <a:txBody>
                    <a:bodyPr/>
                    <a:lstStyle/>
                    <a:p>
                      <a:pPr marL="0" lvl="0" indent="0" algn="l" rtl="0">
                        <a:spcBef>
                          <a:spcPts val="0"/>
                        </a:spcBef>
                        <a:spcAft>
                          <a:spcPts val="0"/>
                        </a:spcAft>
                        <a:buNone/>
                      </a:pPr>
                      <a:r>
                        <a:rPr lang="en"/>
                        <a:t>0.6399</a:t>
                      </a:r>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a:t>Model 5</a:t>
                      </a:r>
                      <a:endParaRPr/>
                    </a:p>
                  </a:txBody>
                  <a:tcPr marL="91425" marR="91425" marT="91425" marB="91425"/>
                </a:tc>
                <a:tc>
                  <a:txBody>
                    <a:bodyPr/>
                    <a:lstStyle/>
                    <a:p>
                      <a:pPr marL="0" lvl="0" indent="0" algn="l" rtl="0">
                        <a:spcBef>
                          <a:spcPts val="0"/>
                        </a:spcBef>
                        <a:spcAft>
                          <a:spcPts val="0"/>
                        </a:spcAft>
                        <a:buNone/>
                      </a:pPr>
                      <a:r>
                        <a:rPr lang="en"/>
                        <a:t>3.4343</a:t>
                      </a:r>
                      <a:endParaRPr/>
                    </a:p>
                  </a:txBody>
                  <a:tcPr marL="91425" marR="91425" marT="91425" marB="91425"/>
                </a:tc>
                <a:tc>
                  <a:txBody>
                    <a:bodyPr/>
                    <a:lstStyle/>
                    <a:p>
                      <a:pPr marL="0" lvl="0" indent="0" algn="l" rtl="0">
                        <a:spcBef>
                          <a:spcPts val="0"/>
                        </a:spcBef>
                        <a:spcAft>
                          <a:spcPts val="0"/>
                        </a:spcAft>
                        <a:buNone/>
                      </a:pPr>
                      <a:r>
                        <a:rPr lang="en"/>
                        <a:t>3.4500</a:t>
                      </a:r>
                      <a:endParaRPr/>
                    </a:p>
                  </a:txBody>
                  <a:tcPr marL="91425" marR="91425" marT="91425" marB="91425"/>
                </a:tc>
                <a:tc>
                  <a:txBody>
                    <a:bodyPr/>
                    <a:lstStyle/>
                    <a:p>
                      <a:pPr marL="0" lvl="0" indent="0" algn="l" rtl="0">
                        <a:spcBef>
                          <a:spcPts val="0"/>
                        </a:spcBef>
                        <a:spcAft>
                          <a:spcPts val="0"/>
                        </a:spcAft>
                        <a:buNone/>
                      </a:pPr>
                      <a:r>
                        <a:rPr lang="en"/>
                        <a:t>3.4343</a:t>
                      </a:r>
                      <a:endParaRPr/>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 name="TextBox 2">
            <a:extLst>
              <a:ext uri="{FF2B5EF4-FFF2-40B4-BE49-F238E27FC236}">
                <a16:creationId xmlns:a16="http://schemas.microsoft.com/office/drawing/2014/main" id="{56CE5BF9-5B3E-44AB-990C-E7D2563E486E}"/>
              </a:ext>
            </a:extLst>
          </p:cNvPr>
          <p:cNvSpPr txBox="1"/>
          <p:nvPr/>
        </p:nvSpPr>
        <p:spPr>
          <a:xfrm>
            <a:off x="733425" y="638208"/>
            <a:ext cx="7677150" cy="3451586"/>
          </a:xfrm>
          <a:prstGeom prst="rect">
            <a:avLst/>
          </a:prstGeom>
          <a:noFill/>
        </p:spPr>
        <p:txBody>
          <a:bodyPr wrap="square" rtlCol="0">
            <a:spAutoFit/>
          </a:bodyPr>
          <a:lstStyle/>
          <a:p>
            <a:pPr>
              <a:lnSpc>
                <a:spcPct val="150000"/>
              </a:lnSpc>
              <a:buNone/>
            </a:pPr>
            <a:r>
              <a:rPr lang="en-US" sz="2000" b="1" dirty="0"/>
              <a:t>Key Insights From Our Analysis</a:t>
            </a:r>
          </a:p>
          <a:p>
            <a:pPr>
              <a:lnSpc>
                <a:spcPct val="150000"/>
              </a:lnSpc>
              <a:buFont typeface="Arial" panose="020B0604020202020204" pitchFamily="34" charset="0"/>
              <a:buChar char="•"/>
            </a:pPr>
            <a:r>
              <a:rPr lang="en-US" sz="1800" dirty="0"/>
              <a:t>Bike usage is highly influenced by </a:t>
            </a:r>
            <a:r>
              <a:rPr lang="en-US" sz="1800" b="1" dirty="0"/>
              <a:t>seasonal patterns</a:t>
            </a:r>
            <a:r>
              <a:rPr lang="en-US" sz="1800" dirty="0"/>
              <a:t> and </a:t>
            </a:r>
            <a:r>
              <a:rPr lang="en-US" sz="1800" b="1" dirty="0"/>
              <a:t>weather conditions</a:t>
            </a:r>
            <a:r>
              <a:rPr lang="en-US" sz="1800" dirty="0"/>
              <a:t>.</a:t>
            </a:r>
          </a:p>
          <a:p>
            <a:pPr>
              <a:lnSpc>
                <a:spcPct val="150000"/>
              </a:lnSpc>
              <a:buFont typeface="Arial" panose="020B0604020202020204" pitchFamily="34" charset="0"/>
              <a:buChar char="•"/>
            </a:pPr>
            <a:r>
              <a:rPr lang="en-US" sz="1800" b="1" dirty="0"/>
              <a:t>Year-over-year growth</a:t>
            </a:r>
            <a:r>
              <a:rPr lang="en-US" sz="1800" dirty="0"/>
              <a:t> shows an increase in ridership from 2011 to 2012.</a:t>
            </a:r>
          </a:p>
          <a:p>
            <a:pPr>
              <a:lnSpc>
                <a:spcPct val="150000"/>
              </a:lnSpc>
            </a:pPr>
            <a:r>
              <a:rPr lang="en-US" sz="1800" dirty="0"/>
              <a:t>- Weekday trends suggest </a:t>
            </a:r>
            <a:r>
              <a:rPr lang="en-US" sz="1800" b="1" dirty="0"/>
              <a:t>commuting patterns</a:t>
            </a:r>
            <a:r>
              <a:rPr lang="en-US" sz="1800" dirty="0"/>
              <a:t>, with consistent use on weekdays and spikes on weekends.</a:t>
            </a:r>
          </a:p>
          <a:p>
            <a:pPr>
              <a:lnSpc>
                <a:spcPct val="150000"/>
              </a:lnSpc>
            </a:pP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22"/>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Model MSE Explanations + Best Model</a:t>
            </a:r>
            <a:endParaRPr/>
          </a:p>
        </p:txBody>
      </p:sp>
      <p:sp>
        <p:nvSpPr>
          <p:cNvPr id="326" name="Google Shape;326;p22"/>
          <p:cNvSpPr txBox="1">
            <a:spLocks noGrp="1"/>
          </p:cNvSpPr>
          <p:nvPr>
            <p:ph type="body" idx="1"/>
          </p:nvPr>
        </p:nvSpPr>
        <p:spPr>
          <a:xfrm>
            <a:off x="1254550" y="1983025"/>
            <a:ext cx="7030500" cy="2541600"/>
          </a:xfrm>
          <a:prstGeom prst="rect">
            <a:avLst/>
          </a:prstGeom>
        </p:spPr>
        <p:txBody>
          <a:bodyPr spcFirstLastPara="1" wrap="square" lIns="91425" tIns="91425" rIns="91425" bIns="91425" anchor="t" anchorCtr="0">
            <a:normAutofit/>
          </a:bodyPr>
          <a:lstStyle/>
          <a:p>
            <a:pPr marL="457200" lvl="0" indent="-311150" algn="l" rtl="0">
              <a:lnSpc>
                <a:spcPct val="200000"/>
              </a:lnSpc>
              <a:spcBef>
                <a:spcPts val="0"/>
              </a:spcBef>
              <a:spcAft>
                <a:spcPts val="0"/>
              </a:spcAft>
              <a:buSzPts val="1300"/>
              <a:buChar char="●"/>
            </a:pPr>
            <a:r>
              <a:rPr lang="en"/>
              <a:t>When the MSE is a lower value, it if a better fit for the data. </a:t>
            </a:r>
            <a:endParaRPr/>
          </a:p>
          <a:p>
            <a:pPr marL="457200" lvl="0" indent="-311150" algn="l" rtl="0">
              <a:lnSpc>
                <a:spcPct val="200000"/>
              </a:lnSpc>
              <a:spcBef>
                <a:spcPts val="0"/>
              </a:spcBef>
              <a:spcAft>
                <a:spcPts val="0"/>
              </a:spcAft>
              <a:buSzPts val="1300"/>
              <a:buChar char="●"/>
            </a:pPr>
            <a:r>
              <a:rPr lang="en"/>
              <a:t>Given our data, Models 1, 3, and 4 are better model predictors than models 2 and 5.</a:t>
            </a:r>
            <a:endParaRPr/>
          </a:p>
          <a:p>
            <a:pPr marL="457200" lvl="0" indent="-311150" algn="l" rtl="0">
              <a:lnSpc>
                <a:spcPct val="200000"/>
              </a:lnSpc>
              <a:spcBef>
                <a:spcPts val="0"/>
              </a:spcBef>
              <a:spcAft>
                <a:spcPts val="0"/>
              </a:spcAft>
              <a:buSzPts val="1300"/>
              <a:buChar char="●"/>
            </a:pPr>
            <a:r>
              <a:rPr lang="en"/>
              <a:t>Out of the the three best models, Model 4 is the most significant.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3"/>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Conclusion</a:t>
            </a:r>
            <a:endParaRPr/>
          </a:p>
        </p:txBody>
      </p:sp>
      <p:sp>
        <p:nvSpPr>
          <p:cNvPr id="332" name="Google Shape;332;p23"/>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a:t>Season, Year, Weekday, Windspeed, Weather Situation, and Humidity were the strongest predictors (p &lt; 0.05)</a:t>
            </a:r>
            <a:endParaRPr/>
          </a:p>
          <a:p>
            <a:pPr marL="457200" lvl="0" indent="-311150" algn="l" rtl="0">
              <a:spcBef>
                <a:spcPts val="0"/>
              </a:spcBef>
              <a:spcAft>
                <a:spcPts val="0"/>
              </a:spcAft>
              <a:buSzPts val="1300"/>
              <a:buChar char="●"/>
            </a:pPr>
            <a:r>
              <a:rPr lang="en"/>
              <a:t>Model 4 had the lowest MSE across all validation methods indicating the best generalization performance across all 5 models.   </a:t>
            </a:r>
            <a:endParaRPr/>
          </a:p>
          <a:p>
            <a:pPr marL="457200" lvl="0" indent="-311150" algn="l" rtl="0">
              <a:spcBef>
                <a:spcPts val="0"/>
              </a:spcBef>
              <a:spcAft>
                <a:spcPts val="0"/>
              </a:spcAft>
              <a:buSzPts val="1300"/>
              <a:buChar char="●"/>
            </a:pPr>
            <a:r>
              <a:rPr lang="en"/>
              <a:t>The MSE values from validation, LOOCV, and k-fold CV indicate that model 4 provides reasonably accurate predictions of daily bike sharing usage. </a:t>
            </a:r>
            <a:endParaRPr/>
          </a:p>
        </p:txBody>
      </p:sp>
      <p:pic>
        <p:nvPicPr>
          <p:cNvPr id="333" name="Google Shape;333;p23"/>
          <p:cNvPicPr preferRelativeResize="0"/>
          <p:nvPr/>
        </p:nvPicPr>
        <p:blipFill>
          <a:blip r:embed="rId3">
            <a:alphaModFix/>
          </a:blip>
          <a:stretch>
            <a:fillRect/>
          </a:stretch>
        </p:blipFill>
        <p:spPr>
          <a:xfrm>
            <a:off x="6551575" y="3685250"/>
            <a:ext cx="2592427" cy="1458251"/>
          </a:xfrm>
          <a:prstGeom prst="rect">
            <a:avLst/>
          </a:prstGeom>
          <a:noFill/>
          <a:ln>
            <a:noFill/>
          </a:ln>
        </p:spPr>
      </p:pic>
    </p:spTree>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676</Words>
  <Application>Microsoft Macintosh PowerPoint</Application>
  <PresentationFormat>On-screen Show (16:9)</PresentationFormat>
  <Paragraphs>149</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Maven Pro</vt:lpstr>
      <vt:lpstr>Nunito</vt:lpstr>
      <vt:lpstr>Arial</vt:lpstr>
      <vt:lpstr>Momentum</vt:lpstr>
      <vt:lpstr>Bike Sharing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Model MSE Explanations + Best Model</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Joseph Nasr</cp:lastModifiedBy>
  <cp:revision>1</cp:revision>
  <dcterms:modified xsi:type="dcterms:W3CDTF">2025-12-08T01:47:21Z</dcterms:modified>
</cp:coreProperties>
</file>