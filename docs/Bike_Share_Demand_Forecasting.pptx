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8799CB70-F9C6-1193-7C93-EC71511FF79E}">
          <p14:sldIdLst>
            <p14:sldId id="256"/>
            <p14:sldId id="257"/>
            <p14:sldId id="258"/>
          </p14:sldIdLst>
        </p14:section>
        <p14:section name="Findings" id="{167AB107-F254-B331-A16E-82E9548BAC25}">
          <p14:sldIdLst>
            <p14:sldId id="259"/>
            <p14:sldId id="260"/>
          </p14:sldIdLst>
        </p14:section>
        <p14:section name="Modeling" id="{B95F5E17-64A4-2E82-7595-C1CB094FBCAF}">
          <p14:sldIdLst>
            <p14:sldId id="261"/>
            <p14:sldId id="262"/>
            <p14:sldId id="263"/>
          </p14:sldIdLst>
        </p14:section>
        <p14:section name="Next steps" id="{8459A74B-A407-8C13-0870-327C4D3E176A}">
          <p14:sldIdLst>
            <p14:sldId id="264"/>
            <p14:sldId id="265"/>
            <p14:sldId id="266"/>
          </p14:sldIdLst>
        </p14:section>
        <p14:section name="Appendix" id="{E63BB182-2E1F-5771-939E-88DD6C5E9B72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2011</c:v>
                </c:pt>
              </c:strCache>
            </c:strRef>
          </c:tx>
          <c:spPr>
            <a:ln w="38100" cap="flat">
              <a:solidFill>
                <a:srgbClr val="9AA7AF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9AA7AF"/>
              </a:solidFill>
              <a:ln w="9525" cap="flat">
                <a:solidFill>
                  <a:srgbClr val="9AA7AF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1.232</c:v>
                </c:pt>
                <c:pt idx="1">
                  <c:v>1.722</c:v>
                </c:pt>
                <c:pt idx="2">
                  <c:v>2.0659999999999998</c:v>
                </c:pt>
                <c:pt idx="3">
                  <c:v>3.1619999999999999</c:v>
                </c:pt>
                <c:pt idx="4">
                  <c:v>4.3810000000000002</c:v>
                </c:pt>
                <c:pt idx="5">
                  <c:v>4.7839999999999998</c:v>
                </c:pt>
                <c:pt idx="6">
                  <c:v>4.5590000000000002</c:v>
                </c:pt>
                <c:pt idx="7">
                  <c:v>4.4089999999999998</c:v>
                </c:pt>
                <c:pt idx="8">
                  <c:v>4.2469999999999999</c:v>
                </c:pt>
                <c:pt idx="9">
                  <c:v>3.984</c:v>
                </c:pt>
                <c:pt idx="10">
                  <c:v>3.4060000000000001</c:v>
                </c:pt>
                <c:pt idx="11">
                  <c:v>2.8170000000000002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6C4-4678-B015-7E674D3B28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2012</c:v>
                </c:pt>
              </c:strCache>
            </c:strRef>
          </c:tx>
          <c:spPr>
            <a:ln w="38100" cap="flat">
              <a:solidFill>
                <a:srgbClr val="1F6F8B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F6F8B"/>
              </a:solidFill>
              <a:ln w="9525" cap="flat">
                <a:solidFill>
                  <a:srgbClr val="1F6F8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3.121</c:v>
                </c:pt>
                <c:pt idx="1">
                  <c:v>3.556</c:v>
                </c:pt>
                <c:pt idx="2">
                  <c:v>5.319</c:v>
                </c:pt>
                <c:pt idx="3">
                  <c:v>5.8070000000000004</c:v>
                </c:pt>
                <c:pt idx="4">
                  <c:v>6.3179999999999996</c:v>
                </c:pt>
                <c:pt idx="5">
                  <c:v>6.7610000000000001</c:v>
                </c:pt>
                <c:pt idx="6">
                  <c:v>6.5679999999999996</c:v>
                </c:pt>
                <c:pt idx="7">
                  <c:v>6.9189999999999996</c:v>
                </c:pt>
                <c:pt idx="8">
                  <c:v>7.2859999999999996</c:v>
                </c:pt>
                <c:pt idx="9">
                  <c:v>6.4139999999999997</c:v>
                </c:pt>
                <c:pt idx="10">
                  <c:v>5.0890000000000004</c:v>
                </c:pt>
                <c:pt idx="11">
                  <c:v>3.9910000000000001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6C4-4678-B015-7E674D3B28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D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9525" cap="flat">
              <a:solidFill>
                <a:srgbClr val="DDE6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B5D68"/>
                    </a:solidFill>
                    <a:latin typeface="+mn-lt"/>
                  </a:defRPr>
                </a:pPr>
                <a:r>
                  <a:rPr lang="en-US" sz="1200" b="0" i="0" u="none" strike="noStrike">
                    <a:solidFill>
                      <a:srgbClr val="4B5D68"/>
                    </a:solidFill>
                    <a:latin typeface="+mn-lt"/>
                  </a:rPr>
                  <a:t>Avg daily rides (thousands)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D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B5D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B5D68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4B5D68"/>
                </a:solidFill>
                <a:latin typeface="+mn-lt"/>
              </a:rPr>
              <a:t>Average daily rides (thousands)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daily rides (thousands)</c:v>
                </c:pt>
              </c:strCache>
            </c:strRef>
          </c:tx>
          <c:spPr>
            <a:solidFill>
              <a:srgbClr val="1F6F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A58-4B78-AF55-0E52ACF59C23}"/>
              </c:ext>
            </c:extLst>
          </c:dPt>
          <c:dPt>
            <c:idx val="1"/>
            <c:invertIfNegative val="0"/>
            <c:bubble3D val="0"/>
            <c:spPr>
              <a:solidFill>
                <a:srgbClr val="9AA7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A58-4B78-AF55-0E52ACF59C23}"/>
              </c:ext>
            </c:extLst>
          </c:dPt>
          <c:dPt>
            <c:idx val="2"/>
            <c:invertIfNegative val="0"/>
            <c:bubble3D val="0"/>
            <c:spPr>
              <a:solidFill>
                <a:srgbClr val="E39B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A58-4B78-AF55-0E52ACF59C23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7262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Clear</c:v>
                </c:pt>
                <c:pt idx="1">
                  <c:v>Cloudy / mist</c:v>
                </c:pt>
                <c:pt idx="2">
                  <c:v>Rain / snow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4.8769999999999998</c:v>
                </c:pt>
                <c:pt idx="1">
                  <c:v>4.0359999999999996</c:v>
                </c:pt>
                <c:pt idx="2">
                  <c:v>1.8029999999999999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58-4B78-AF55-0E52ACF59C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B5D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B5D68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4B5D68"/>
                </a:solidFill>
                <a:latin typeface="+mn-lt"/>
              </a:rPr>
              <a:t>Leave-one-out CV error (MSE, lower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LOOCV MSE</c:v>
                </c:pt>
              </c:strCache>
            </c:strRef>
          </c:tx>
          <c:spPr>
            <a:solidFill>
              <a:srgbClr val="9AA7A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FEA-4DDA-BF3C-E58DF749684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FEA-4DDA-BF3C-E58DF749684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FEA-4DDA-BF3C-E58DF7496843}"/>
              </c:ext>
            </c:extLst>
          </c:dPt>
          <c:dPt>
            <c:idx val="3"/>
            <c:invertIfNegative val="0"/>
            <c:bubble3D val="0"/>
            <c:spPr>
              <a:solidFill>
                <a:srgbClr val="1F6F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FEA-4DDA-BF3C-E58DF749684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FEA-4DDA-BF3C-E58DF7496843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7262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Model 1</c:v>
                </c:pt>
                <c:pt idx="1">
                  <c:v>Model 2</c:v>
                </c:pt>
                <c:pt idx="2">
                  <c:v>Model 3</c:v>
                </c:pt>
                <c:pt idx="3">
                  <c:v>Model 4</c:v>
                </c:pt>
                <c:pt idx="4">
                  <c:v>Model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0.79820000000000002</c:v>
                </c:pt>
                <c:pt idx="1">
                  <c:v>3.0306999999999999</c:v>
                </c:pt>
                <c:pt idx="2">
                  <c:v>0.79800000000000004</c:v>
                </c:pt>
                <c:pt idx="3">
                  <c:v>0.63453999999999999</c:v>
                </c:pt>
                <c:pt idx="4">
                  <c:v>3.4342999999999999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FEA-4DDA-BF3C-E58DF74968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B5D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B5D68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4B5D68"/>
                </a:solidFill>
                <a:latin typeface="+mn-lt"/>
              </a:rPr>
              <a:t>Leave-one-out CV error (MSE, lower is better)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LOOCV MSE</c:v>
                </c:pt>
              </c:strCache>
            </c:strRef>
          </c:tx>
          <c:spPr>
            <a:solidFill>
              <a:srgbClr val="9AA7A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47F-4626-9D64-3C404FC0BD82}"/>
              </c:ext>
            </c:extLst>
          </c:dPt>
          <c:dPt>
            <c:idx val="1"/>
            <c:invertIfNegative val="0"/>
            <c:bubble3D val="0"/>
            <c:spPr>
              <a:solidFill>
                <a:srgbClr val="8FB8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47F-4626-9D64-3C404FC0BD82}"/>
              </c:ext>
            </c:extLst>
          </c:dPt>
          <c:dPt>
            <c:idx val="2"/>
            <c:invertIfNegative val="0"/>
            <c:bubble3D val="0"/>
            <c:spPr>
              <a:solidFill>
                <a:srgbClr val="1F6F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47F-4626-9D64-3C404FC0BD82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7262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Model 4</c:v>
                </c:pt>
                <c:pt idx="1">
                  <c:v>+ windspeed</c:v>
                </c:pt>
                <c:pt idx="2">
                  <c:v>+ categorical coding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0.63453999999999999</c:v>
                </c:pt>
                <c:pt idx="1">
                  <c:v>0.59077000000000002</c:v>
                </c:pt>
                <c:pt idx="2">
                  <c:v>0.53388999999999998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7F-4626-9D64-3C404FC0BD8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B5D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0605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project. Goal: predict daily bike rentals from calendar and weather data, and compare regression models rigorously.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Question, approach, answer. Typical error = square root of the cross-validated MSE (0.6345 thousand rides squared) = about 800 rides, roughly 18% of the 4,500 average. Cross-validated R-squared = 1 - 0.6345/3.748 = 0.83.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UCI Machine Learning Repository, Bike Sharing Dataset (daily file). Removed fields: instant and dteday (redundant with year, month, weekday), holiday (captured by workingday), casual and registered (they sum to the response, so using them would leak the answer).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Monthly averages of daily rides, in thousands. 2011 mean 3.41k, 2012 mean 5.60k: +64%. 2012 high: September at about 7.3k rides per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 daily rides in thousands: clear 4.877 (463 days), cloudy or mist 4.036 (247 days), light rain or snow 1.803 (only 21 days). Working days 4.585 vs non-working 4.330: +6%. The original slides claimed weekend spikes; the data does not support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Formulas exactly as in the R script. Note Model 4 excludes windspeed; this is addressed in the follow-up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LOOCV MSE in thousands of rides squared: 0.798, 3.031, 0.798, 0.635, 3.434. Model 4 vs Model 1: 0.6345/0.7981 = 20% lower. Full table in the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Coefficients from Model 1 fit on the 70% training split (seed 100); response in thousands, so 2.067 = 2,067 rides. Windspeed -2.493 per 1.0 normalized = about -250 per 0.1. Humidity -1.126 per 1.0 = about -113 per 0.1. Weather -0.543 per category step. All p &lt; 0.01.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Follow-up analysis beyond the original five models. LOOCV MSE: Model 4 0.635; adding windspeed 0.591; adding categorical coding for season, month, weekday and weather 0.534. 0.534/0.6345 = 16% lower.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limitations show judgment. Temperature and feels-like temperature correlate at 0.99, so individual coefficients are unstable even though predictions are fine.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and LOOCV were independently re-computed from the data. 5-fold and 10-fold values are from the original R run (fold assignment is random).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72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234440"/>
            <a:ext cx="57607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926080"/>
            <a:ext cx="5760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Daily Bike-Share Demand Forecasting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rgbClr val="172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-nasr/bike-sharin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23444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Forecasting Daily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Bike-Share Demand</a:t>
            </a: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9260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3"/>
                </a:solidFill>
              </a:rPr>
              <a:t>Regression modeling and cross-validation in R</a:t>
            </a:r>
            <a:endParaRPr lang="en-US" sz="1800" dirty="0"/>
          </a:p>
        </p:txBody>
      </p:sp>
      <p:sp>
        <p:nvSpPr>
          <p:cNvPr id="4" name="Motif large circle"/>
          <p:cNvSpPr/>
          <p:nvPr/>
        </p:nvSpPr>
        <p:spPr>
          <a:xfrm>
            <a:off x="6035040" y="822960"/>
            <a:ext cx="3291840" cy="3291840"/>
          </a:xfrm>
          <a:prstGeom prst="ellipse">
            <a:avLst/>
          </a:prstGeom>
          <a:solidFill>
            <a:srgbClr val="1F6F8B">
              <a:alpha val="18000"/>
            </a:srgbClr>
          </a:solidFill>
          <a:ln w="19050">
            <a:solidFill>
              <a:srgbClr val="1F6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Motif small circle"/>
          <p:cNvSpPr/>
          <p:nvPr/>
        </p:nvSpPr>
        <p:spPr>
          <a:xfrm>
            <a:off x="7040880" y="2651760"/>
            <a:ext cx="1737360" cy="1737360"/>
          </a:xfrm>
          <a:prstGeom prst="ellipse">
            <a:avLst/>
          </a:prstGeom>
          <a:solidFill>
            <a:srgbClr val="E39B2D">
              <a:alpha val="20000"/>
            </a:srgbClr>
          </a:solidFill>
          <a:ln w="19050">
            <a:solidFill>
              <a:srgbClr val="E39B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ata tagline"/>
          <p:cNvSpPr txBox="1"/>
          <p:nvPr/>
        </p:nvSpPr>
        <p:spPr>
          <a:xfrm>
            <a:off x="640080" y="39776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731 days of Capital Bikeshare data · 2011–2012</a:t>
            </a:r>
            <a:endParaRPr lang="en-US" sz="1400" dirty="0"/>
          </a:p>
        </p:txBody>
      </p:sp>
      <p:sp>
        <p:nvSpPr>
          <p:cNvPr id="7" name="Team"/>
          <p:cNvSpPr txBox="1"/>
          <p:nvPr/>
        </p:nvSpPr>
        <p:spPr>
          <a:xfrm>
            <a:off x="640080" y="42976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Joe Nasr · Tyler Tarabocchia · Ryan Guidotti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A model with squared weather terms predicts daily ridership to within about 800 rides.</a:t>
            </a:r>
            <a:endParaRPr lang="en-US" sz="1600" dirty="0"/>
          </a:p>
        </p:txBody>
      </p:sp>
      <p:sp>
        <p:nvSpPr>
          <p:cNvPr id="5" name="Stat days card"/>
          <p:cNvSpPr/>
          <p:nvPr/>
        </p:nvSpPr>
        <p:spPr>
          <a:xfrm>
            <a:off x="457200" y="146304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tat days value"/>
          <p:cNvSpPr txBox="1"/>
          <p:nvPr/>
        </p:nvSpPr>
        <p:spPr>
          <a:xfrm>
            <a:off x="640080" y="1572768"/>
            <a:ext cx="219456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731</a:t>
            </a:r>
            <a:endParaRPr lang="en-US" sz="3600" dirty="0"/>
          </a:p>
        </p:txBody>
      </p:sp>
      <p:sp>
        <p:nvSpPr>
          <p:cNvPr id="7" name="Stat days label"/>
          <p:cNvSpPr txBox="1"/>
          <p:nvPr/>
        </p:nvSpPr>
        <p:spPr>
          <a:xfrm>
            <a:off x="640080" y="2364638"/>
            <a:ext cx="219456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days of ridership data across 2011 and 2012</a:t>
            </a:r>
            <a:endParaRPr lang="en-US" sz="1400" dirty="0"/>
          </a:p>
        </p:txBody>
      </p:sp>
      <p:sp>
        <p:nvSpPr>
          <p:cNvPr id="8" name="Stat r2 card"/>
          <p:cNvSpPr/>
          <p:nvPr/>
        </p:nvSpPr>
        <p:spPr>
          <a:xfrm>
            <a:off x="3291840" y="146304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tat r2 value"/>
          <p:cNvSpPr txBox="1"/>
          <p:nvPr/>
        </p:nvSpPr>
        <p:spPr>
          <a:xfrm>
            <a:off x="3474720" y="1572768"/>
            <a:ext cx="219456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3600" dirty="0"/>
          </a:p>
        </p:txBody>
      </p:sp>
      <p:sp>
        <p:nvSpPr>
          <p:cNvPr id="10" name="Stat r2 label"/>
          <p:cNvSpPr txBox="1"/>
          <p:nvPr/>
        </p:nvSpPr>
        <p:spPr>
          <a:xfrm>
            <a:off x="3474720" y="2364638"/>
            <a:ext cx="219456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of day-to-day variation explained (cross-validated R²)</a:t>
            </a:r>
            <a:endParaRPr lang="en-US" sz="1400" dirty="0"/>
          </a:p>
        </p:txBody>
      </p:sp>
      <p:sp>
        <p:nvSpPr>
          <p:cNvPr id="11" name="Stat error card"/>
          <p:cNvSpPr/>
          <p:nvPr/>
        </p:nvSpPr>
        <p:spPr>
          <a:xfrm>
            <a:off x="6126480" y="146304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at error value"/>
          <p:cNvSpPr txBox="1"/>
          <p:nvPr/>
        </p:nvSpPr>
        <p:spPr>
          <a:xfrm>
            <a:off x="6309360" y="1572768"/>
            <a:ext cx="219456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~800</a:t>
            </a:r>
            <a:endParaRPr lang="en-US" sz="3600" dirty="0"/>
          </a:p>
        </p:txBody>
      </p:sp>
      <p:sp>
        <p:nvSpPr>
          <p:cNvPr id="13" name="Stat error label"/>
          <p:cNvSpPr txBox="1"/>
          <p:nvPr/>
        </p:nvSpPr>
        <p:spPr>
          <a:xfrm>
            <a:off x="6309360" y="2364638"/>
            <a:ext cx="219456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rides per day typical error, about 18% of average demand</a:t>
            </a:r>
            <a:endParaRPr lang="en-US" sz="1400" dirty="0"/>
          </a:p>
        </p:txBody>
      </p:sp>
      <p:sp>
        <p:nvSpPr>
          <p:cNvPr id="14" name="Summary Question"/>
          <p:cNvSpPr txBox="1"/>
          <p:nvPr/>
        </p:nvSpPr>
        <p:spPr>
          <a:xfrm>
            <a:off x="45720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Question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Which weather and calendar factors best predict daily demand?</a:t>
            </a:r>
            <a:endParaRPr lang="en-US" sz="1400" dirty="0"/>
          </a:p>
        </p:txBody>
      </p:sp>
      <p:sp>
        <p:nvSpPr>
          <p:cNvPr id="15" name="Summary Approach"/>
          <p:cNvSpPr txBox="1"/>
          <p:nvPr/>
        </p:nvSpPr>
        <p:spPr>
          <a:xfrm>
            <a:off x="329184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Approach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Five regression models compared with four validation methods.</a:t>
            </a:r>
            <a:endParaRPr lang="en-US" sz="1400" dirty="0"/>
          </a:p>
        </p:txBody>
      </p:sp>
      <p:sp>
        <p:nvSpPr>
          <p:cNvPr id="16" name="Summary Answer"/>
          <p:cNvSpPr txBox="1"/>
          <p:nvPr/>
        </p:nvSpPr>
        <p:spPr>
          <a:xfrm>
            <a:off x="612648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Answer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Model 4, with squared temperature and humidity terms, had the lowest error every time.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and approach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Daily Capital Bikeshare rentals combined with weather and calendar data.</a:t>
            </a:r>
            <a:endParaRPr lang="en-US" sz="1600" dirty="0"/>
          </a:p>
        </p:txBody>
      </p:sp>
      <p:sp>
        <p:nvSpPr>
          <p:cNvPr id="5" name="Step Load"/>
          <p:cNvSpPr/>
          <p:nvPr/>
        </p:nvSpPr>
        <p:spPr>
          <a:xfrm>
            <a:off x="457200" y="1463040"/>
            <a:ext cx="148132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tep title Load"/>
          <p:cNvSpPr txBox="1"/>
          <p:nvPr/>
        </p:nvSpPr>
        <p:spPr>
          <a:xfrm>
            <a:off x="548640" y="153619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800" dirty="0"/>
          </a:p>
        </p:txBody>
      </p:sp>
      <p:sp>
        <p:nvSpPr>
          <p:cNvPr id="7" name="Step text Load"/>
          <p:cNvSpPr txBox="1"/>
          <p:nvPr/>
        </p:nvSpPr>
        <p:spPr>
          <a:xfrm>
            <a:off x="548640" y="19202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731 daily rows</a:t>
            </a:r>
            <a:endParaRPr lang="en-US" sz="1400" dirty="0"/>
          </a:p>
        </p:txBody>
      </p:sp>
      <p:sp>
        <p:nvSpPr>
          <p:cNvPr id="8" name="Step Clean"/>
          <p:cNvSpPr/>
          <p:nvPr/>
        </p:nvSpPr>
        <p:spPr>
          <a:xfrm>
            <a:off x="2121408" y="1463040"/>
            <a:ext cx="148132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tep title Clean"/>
          <p:cNvSpPr txBox="1"/>
          <p:nvPr/>
        </p:nvSpPr>
        <p:spPr>
          <a:xfrm>
            <a:off x="2212848" y="153619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800" dirty="0"/>
          </a:p>
        </p:txBody>
      </p:sp>
      <p:sp>
        <p:nvSpPr>
          <p:cNvPr id="10" name="Step text Clean"/>
          <p:cNvSpPr txBox="1"/>
          <p:nvPr/>
        </p:nvSpPr>
        <p:spPr>
          <a:xfrm>
            <a:off x="2212848" y="19202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Drop missing, rescale</a:t>
            </a:r>
            <a:endParaRPr lang="en-US" sz="1400" dirty="0"/>
          </a:p>
        </p:txBody>
      </p:sp>
      <p:sp>
        <p:nvSpPr>
          <p:cNvPr id="11" name="Step Model"/>
          <p:cNvSpPr/>
          <p:nvPr/>
        </p:nvSpPr>
        <p:spPr>
          <a:xfrm>
            <a:off x="3785616" y="1463040"/>
            <a:ext cx="148132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ep title Model"/>
          <p:cNvSpPr txBox="1"/>
          <p:nvPr/>
        </p:nvSpPr>
        <p:spPr>
          <a:xfrm>
            <a:off x="3877056" y="153619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800" dirty="0"/>
          </a:p>
        </p:txBody>
      </p:sp>
      <p:sp>
        <p:nvSpPr>
          <p:cNvPr id="13" name="Step text Model"/>
          <p:cNvSpPr txBox="1"/>
          <p:nvPr/>
        </p:nvSpPr>
        <p:spPr>
          <a:xfrm>
            <a:off x="3877056" y="19202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5 regression models</a:t>
            </a:r>
            <a:endParaRPr lang="en-US" sz="1400" dirty="0"/>
          </a:p>
        </p:txBody>
      </p:sp>
      <p:sp>
        <p:nvSpPr>
          <p:cNvPr id="14" name="Step Validate"/>
          <p:cNvSpPr/>
          <p:nvPr/>
        </p:nvSpPr>
        <p:spPr>
          <a:xfrm>
            <a:off x="5449824" y="1463040"/>
            <a:ext cx="148132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tep title Validate"/>
          <p:cNvSpPr txBox="1"/>
          <p:nvPr/>
        </p:nvSpPr>
        <p:spPr>
          <a:xfrm>
            <a:off x="5541264" y="153619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800" dirty="0"/>
          </a:p>
        </p:txBody>
      </p:sp>
      <p:sp>
        <p:nvSpPr>
          <p:cNvPr id="16" name="Step text Validate"/>
          <p:cNvSpPr txBox="1"/>
          <p:nvPr/>
        </p:nvSpPr>
        <p:spPr>
          <a:xfrm>
            <a:off x="5541264" y="19202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Holdout, LOOCV, k-fold</a:t>
            </a:r>
            <a:endParaRPr lang="en-US" sz="1400" dirty="0"/>
          </a:p>
        </p:txBody>
      </p:sp>
      <p:sp>
        <p:nvSpPr>
          <p:cNvPr id="17" name="Step Select"/>
          <p:cNvSpPr/>
          <p:nvPr/>
        </p:nvSpPr>
        <p:spPr>
          <a:xfrm>
            <a:off x="7114032" y="1463040"/>
            <a:ext cx="1481328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tep title Select"/>
          <p:cNvSpPr txBox="1"/>
          <p:nvPr/>
        </p:nvSpPr>
        <p:spPr>
          <a:xfrm>
            <a:off x="7205472" y="153619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</a:t>
            </a:r>
            <a:endParaRPr lang="en-US" sz="1800" dirty="0"/>
          </a:p>
        </p:txBody>
      </p:sp>
      <p:sp>
        <p:nvSpPr>
          <p:cNvPr id="19" name="Step text Select"/>
          <p:cNvSpPr txBox="1"/>
          <p:nvPr/>
        </p:nvSpPr>
        <p:spPr>
          <a:xfrm>
            <a:off x="7205472" y="19202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Lowest error wins</a:t>
            </a:r>
            <a:endParaRPr lang="en-US" sz="1400" dirty="0"/>
          </a:p>
        </p:txBody>
      </p:sp>
      <p:sp>
        <p:nvSpPr>
          <p:cNvPr id="20" name="Removed heading"/>
          <p:cNvSpPr txBox="1"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Fields removed before modeling</a:t>
            </a:r>
            <a:endParaRPr lang="en-US" sz="1800" dirty="0"/>
          </a:p>
        </p:txBody>
      </p:sp>
      <p:sp>
        <p:nvSpPr>
          <p:cNvPr id="21" name="Removed list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Date and record ID: </a:t>
            </a:r>
            <a:r>
              <a:rPr lang="en-US" sz="1400" dirty="0">
                <a:solidFill>
                  <a:schemeClr val="tx1"/>
                </a:solidFill>
              </a:rPr>
              <a:t>redundant with year, month and weekday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Holiday: </a:t>
            </a:r>
            <a:r>
              <a:rPr lang="en-US" sz="1400" dirty="0">
                <a:solidFill>
                  <a:schemeClr val="tx1"/>
                </a:solidFill>
              </a:rPr>
              <a:t>already captured by the working-day flag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Casual and registered riders: </a:t>
            </a:r>
            <a:r>
              <a:rPr lang="en-US" sz="1400" dirty="0">
                <a:solidFill>
                  <a:schemeClr val="tx1"/>
                </a:solidFill>
              </a:rPr>
              <a:t>they add up to the response, so using them would leak the answer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Demand peaks in summer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Average daily rides grew 64% from 2011 to 2012.</a:t>
            </a:r>
            <a:endParaRPr lang="en-US" sz="1600" dirty="0"/>
          </a:p>
        </p:txBody>
      </p:sp>
      <p:graphicFrame>
        <p:nvGraphicFramePr>
          <p:cNvPr id="5" name="Monthly demand chart"/>
          <p:cNvGraphicFramePr/>
          <p:nvPr/>
        </p:nvGraphicFramePr>
        <p:xfrm>
          <a:off x="457200" y="1371600"/>
          <a:ext cx="53949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tat growth card"/>
          <p:cNvSpPr/>
          <p:nvPr/>
        </p:nvSpPr>
        <p:spPr>
          <a:xfrm>
            <a:off x="6126480" y="146304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at growth value"/>
          <p:cNvSpPr txBox="1"/>
          <p:nvPr/>
        </p:nvSpPr>
        <p:spPr>
          <a:xfrm>
            <a:off x="6309360" y="1572768"/>
            <a:ext cx="2194560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+64%</a:t>
            </a:r>
            <a:endParaRPr lang="en-US" sz="3600" dirty="0"/>
          </a:p>
        </p:txBody>
      </p:sp>
      <p:sp>
        <p:nvSpPr>
          <p:cNvPr id="8" name="Stat growth label"/>
          <p:cNvSpPr txBox="1"/>
          <p:nvPr/>
        </p:nvSpPr>
        <p:spPr>
          <a:xfrm>
            <a:off x="6309360" y="2285086"/>
            <a:ext cx="219456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daily rides, 2012 vs 2011</a:t>
            </a:r>
            <a:endParaRPr lang="en-US" sz="1400" dirty="0"/>
          </a:p>
        </p:txBody>
      </p:sp>
      <p:sp>
        <p:nvSpPr>
          <p:cNvPr id="9" name="Stat peak card"/>
          <p:cNvSpPr/>
          <p:nvPr/>
        </p:nvSpPr>
        <p:spPr>
          <a:xfrm>
            <a:off x="6126480" y="310896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tat peak value"/>
          <p:cNvSpPr txBox="1"/>
          <p:nvPr/>
        </p:nvSpPr>
        <p:spPr>
          <a:xfrm>
            <a:off x="6309360" y="3218688"/>
            <a:ext cx="2194560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Jun–Sep</a:t>
            </a:r>
            <a:endParaRPr lang="en-US" sz="3000" dirty="0"/>
          </a:p>
        </p:txBody>
      </p:sp>
      <p:sp>
        <p:nvSpPr>
          <p:cNvPr id="11" name="Stat peak label"/>
          <p:cNvSpPr txBox="1"/>
          <p:nvPr/>
        </p:nvSpPr>
        <p:spPr>
          <a:xfrm>
            <a:off x="6309360" y="3931006"/>
            <a:ext cx="219456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peak months (2012 high: 7.3k rides a day)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Bad weather cuts ridership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Rain and snow days average 63% fewer rides than clear days.</a:t>
            </a:r>
            <a:endParaRPr lang="en-US" sz="1600" dirty="0"/>
          </a:p>
        </p:txBody>
      </p:sp>
      <p:graphicFrame>
        <p:nvGraphicFramePr>
          <p:cNvPr id="5" name="Weather chart"/>
          <p:cNvGraphicFramePr/>
          <p:nvPr/>
        </p:nvGraphicFramePr>
        <p:xfrm>
          <a:off x="457200" y="1371600"/>
          <a:ext cx="53949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tat rain card"/>
          <p:cNvSpPr/>
          <p:nvPr/>
        </p:nvSpPr>
        <p:spPr>
          <a:xfrm>
            <a:off x="6126480" y="146304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at rain value"/>
          <p:cNvSpPr txBox="1"/>
          <p:nvPr/>
        </p:nvSpPr>
        <p:spPr>
          <a:xfrm>
            <a:off x="6309360" y="1572768"/>
            <a:ext cx="219456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−63%</a:t>
            </a:r>
            <a:endParaRPr lang="en-US" sz="2800" dirty="0"/>
          </a:p>
        </p:txBody>
      </p:sp>
      <p:sp>
        <p:nvSpPr>
          <p:cNvPr id="8" name="Stat rain label"/>
          <p:cNvSpPr txBox="1"/>
          <p:nvPr/>
        </p:nvSpPr>
        <p:spPr>
          <a:xfrm>
            <a:off x="6309360" y="2046427"/>
            <a:ext cx="21945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rain or snow vs clear days</a:t>
            </a:r>
            <a:endParaRPr lang="en-US" sz="1400" dirty="0"/>
          </a:p>
        </p:txBody>
      </p:sp>
      <p:sp>
        <p:nvSpPr>
          <p:cNvPr id="9" name="Stat workday card"/>
          <p:cNvSpPr/>
          <p:nvPr/>
        </p:nvSpPr>
        <p:spPr>
          <a:xfrm>
            <a:off x="6126480" y="260604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tat workday value"/>
          <p:cNvSpPr txBox="1"/>
          <p:nvPr/>
        </p:nvSpPr>
        <p:spPr>
          <a:xfrm>
            <a:off x="6309360" y="2715768"/>
            <a:ext cx="219456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+6%</a:t>
            </a:r>
            <a:endParaRPr lang="en-US" sz="2800" dirty="0"/>
          </a:p>
        </p:txBody>
      </p:sp>
      <p:sp>
        <p:nvSpPr>
          <p:cNvPr id="11" name="Stat workday label"/>
          <p:cNvSpPr txBox="1"/>
          <p:nvPr/>
        </p:nvSpPr>
        <p:spPr>
          <a:xfrm>
            <a:off x="6309360" y="3189427"/>
            <a:ext cx="21945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working vs non-working days</a:t>
            </a:r>
            <a:endParaRPr lang="en-US" sz="1400" dirty="0"/>
          </a:p>
        </p:txBody>
      </p:sp>
      <p:sp>
        <p:nvSpPr>
          <p:cNvPr id="12" name="Weather caveat"/>
          <p:cNvSpPr txBox="1"/>
          <p:nvPr/>
        </p:nvSpPr>
        <p:spPr>
          <a:xfrm>
            <a:off x="6126480" y="3749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Only 21 rain or snow days in the data, so treat that estimate with care.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Five candidate models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Each model tests a different idea about what drives demand.</a:t>
            </a:r>
            <a:endParaRPr lang="en-US" sz="1600" dirty="0"/>
          </a:p>
        </p:txBody>
      </p:sp>
      <p:graphicFrame>
        <p:nvGraphicFramePr>
          <p:cNvPr id="7" name="Model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29718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10 predictors, linear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Month, weather, humidity, windspeed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+ windspeed × humidity + temperature × weather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 and weather variables (no windspeed) + squared feel-like temperature and humidity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predictor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situation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Model 4 wins every test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Lowest error on holdout, leave-one-out and k-fold validation.</a:t>
            </a:r>
            <a:endParaRPr lang="en-US" sz="1600" dirty="0"/>
          </a:p>
        </p:txBody>
      </p:sp>
      <p:graphicFrame>
        <p:nvGraphicFramePr>
          <p:cNvPr id="5" name="Model comparison chart"/>
          <p:cNvGraphicFramePr/>
          <p:nvPr/>
        </p:nvGraphicFramePr>
        <p:xfrm>
          <a:off x="457200" y="1371600"/>
          <a:ext cx="53949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tat improvement card"/>
          <p:cNvSpPr/>
          <p:nvPr/>
        </p:nvSpPr>
        <p:spPr>
          <a:xfrm>
            <a:off x="6126480" y="1463040"/>
            <a:ext cx="25603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at improvement value"/>
          <p:cNvSpPr txBox="1"/>
          <p:nvPr/>
        </p:nvSpPr>
        <p:spPr>
          <a:xfrm>
            <a:off x="6309360" y="1572768"/>
            <a:ext cx="219456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−20%</a:t>
            </a:r>
            <a:endParaRPr lang="en-US" sz="3600" dirty="0"/>
          </a:p>
        </p:txBody>
      </p:sp>
      <p:sp>
        <p:nvSpPr>
          <p:cNvPr id="8" name="Stat improvement label"/>
          <p:cNvSpPr txBox="1"/>
          <p:nvPr/>
        </p:nvSpPr>
        <p:spPr>
          <a:xfrm>
            <a:off x="6309360" y="2232050"/>
            <a:ext cx="219456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error vs the full linear model (0.63 vs 0.80)</a:t>
            </a:r>
            <a:endParaRPr lang="en-US" sz="1400" dirty="0"/>
          </a:p>
        </p:txBody>
      </p:sp>
      <p:sp>
        <p:nvSpPr>
          <p:cNvPr id="9" name="Methods list"/>
          <p:cNvSpPr txBox="1"/>
          <p:nvPr/>
        </p:nvSpPr>
        <p:spPr>
          <a:xfrm>
            <a:off x="6126480" y="301752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How each model was tested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70/30 holdout splits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Leave-one-out CV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5-fold and 10-fold CV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moves ridership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Year-over-year growth, weather and wind have the largest effects.</a:t>
            </a:r>
            <a:endParaRPr lang="en-US" sz="1600" dirty="0"/>
          </a:p>
        </p:txBody>
      </p:sp>
      <p:sp>
        <p:nvSpPr>
          <p:cNvPr id="5" name="Driver 1 card"/>
          <p:cNvSpPr/>
          <p:nvPr/>
        </p:nvSpPr>
        <p:spPr>
          <a:xfrm>
            <a:off x="457200" y="141732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river 1 value"/>
          <p:cNvSpPr txBox="1"/>
          <p:nvPr/>
        </p:nvSpPr>
        <p:spPr>
          <a:xfrm>
            <a:off x="640080" y="1527048"/>
            <a:ext cx="3657600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+2,067</a:t>
            </a:r>
            <a:endParaRPr lang="en-US" sz="3400" dirty="0"/>
          </a:p>
        </p:txBody>
      </p:sp>
      <p:sp>
        <p:nvSpPr>
          <p:cNvPr id="7" name="Driver 1 label"/>
          <p:cNvSpPr txBox="1"/>
          <p:nvPr/>
        </p:nvSpPr>
        <p:spPr>
          <a:xfrm>
            <a:off x="640080" y="2239366"/>
            <a:ext cx="365760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rides per day in 2012 vs 2011, season and weather held fixed</a:t>
            </a:r>
            <a:endParaRPr lang="en-US" sz="1400" dirty="0"/>
          </a:p>
        </p:txBody>
      </p:sp>
      <p:sp>
        <p:nvSpPr>
          <p:cNvPr id="8" name="Driver 2 card"/>
          <p:cNvSpPr/>
          <p:nvPr/>
        </p:nvSpPr>
        <p:spPr>
          <a:xfrm>
            <a:off x="4663440" y="141732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Driver 2 value"/>
          <p:cNvSpPr txBox="1"/>
          <p:nvPr/>
        </p:nvSpPr>
        <p:spPr>
          <a:xfrm>
            <a:off x="4846320" y="1527048"/>
            <a:ext cx="3657600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−543</a:t>
            </a:r>
            <a:endParaRPr lang="en-US" sz="3400" dirty="0"/>
          </a:p>
        </p:txBody>
      </p:sp>
      <p:sp>
        <p:nvSpPr>
          <p:cNvPr id="10" name="Driver 2 label"/>
          <p:cNvSpPr txBox="1"/>
          <p:nvPr/>
        </p:nvSpPr>
        <p:spPr>
          <a:xfrm>
            <a:off x="4846320" y="2239366"/>
            <a:ext cx="365760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rides per day for each step toward worse weather (clear, cloudy, rain)</a:t>
            </a:r>
            <a:endParaRPr lang="en-US" sz="1400" dirty="0"/>
          </a:p>
        </p:txBody>
      </p:sp>
      <p:sp>
        <p:nvSpPr>
          <p:cNvPr id="11" name="Driver 3 card"/>
          <p:cNvSpPr/>
          <p:nvPr/>
        </p:nvSpPr>
        <p:spPr>
          <a:xfrm>
            <a:off x="457200" y="301752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Driver 3 value"/>
          <p:cNvSpPr txBox="1"/>
          <p:nvPr/>
        </p:nvSpPr>
        <p:spPr>
          <a:xfrm>
            <a:off x="640080" y="3127248"/>
            <a:ext cx="3657600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−250</a:t>
            </a:r>
            <a:endParaRPr lang="en-US" sz="3400" dirty="0"/>
          </a:p>
        </p:txBody>
      </p:sp>
      <p:sp>
        <p:nvSpPr>
          <p:cNvPr id="13" name="Driver 3 label"/>
          <p:cNvSpPr txBox="1"/>
          <p:nvPr/>
        </p:nvSpPr>
        <p:spPr>
          <a:xfrm>
            <a:off x="640080" y="3839566"/>
            <a:ext cx="365760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rides per day for each 0.1 rise in normalized windspeed</a:t>
            </a:r>
            <a:endParaRPr lang="en-US" sz="1400" dirty="0"/>
          </a:p>
        </p:txBody>
      </p:sp>
      <p:sp>
        <p:nvSpPr>
          <p:cNvPr id="14" name="Driver 4 card"/>
          <p:cNvSpPr/>
          <p:nvPr/>
        </p:nvSpPr>
        <p:spPr>
          <a:xfrm>
            <a:off x="4663440" y="301752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Driver 4 value"/>
          <p:cNvSpPr txBox="1"/>
          <p:nvPr/>
        </p:nvSpPr>
        <p:spPr>
          <a:xfrm>
            <a:off x="4846320" y="3127248"/>
            <a:ext cx="3657600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−113</a:t>
            </a:r>
            <a:endParaRPr lang="en-US" sz="3400" dirty="0"/>
          </a:p>
        </p:txBody>
      </p:sp>
      <p:sp>
        <p:nvSpPr>
          <p:cNvPr id="16" name="Driver 4 label"/>
          <p:cNvSpPr txBox="1"/>
          <p:nvPr/>
        </p:nvSpPr>
        <p:spPr>
          <a:xfrm>
            <a:off x="4846320" y="3839566"/>
            <a:ext cx="365760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rides per day for each 0.1 rise in normalized humidity</a:t>
            </a:r>
            <a:endParaRPr lang="en-US" sz="1400" dirty="0"/>
          </a:p>
        </p:txBody>
      </p:sp>
      <p:sp>
        <p:nvSpPr>
          <p:cNvPr id="17" name="Drivers footnote"/>
          <p:cNvSpPr txBox="1"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Baseline model fit on the 70% training split. All four effects significant at p &lt; 0.01.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Follow-up: improving the best model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Two fixes cut cross-validated error a further 16%.</a:t>
            </a:r>
            <a:endParaRPr lang="en-US" sz="1600" dirty="0"/>
          </a:p>
        </p:txBody>
      </p:sp>
      <p:graphicFrame>
        <p:nvGraphicFramePr>
          <p:cNvPr id="5" name="Follow-up chart"/>
          <p:cNvGraphicFramePr/>
          <p:nvPr/>
        </p:nvGraphicFramePr>
        <p:xfrm>
          <a:off x="457200" y="1371600"/>
          <a:ext cx="53949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Follow-up reasons"/>
          <p:cNvSpPr txBox="1"/>
          <p:nvPr/>
        </p:nvSpPr>
        <p:spPr>
          <a:xfrm>
            <a:off x="6126480" y="1463040"/>
            <a:ext cx="2560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Why it helps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 4 left out windspeed, a strong predictor in the baseline.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Season, month, weekday and weather are categories, not quantities, so they need separate effects.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Limitations and next steps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What would make the analysis more robust.</a:t>
            </a:r>
            <a:endParaRPr lang="en-US" sz="1600" dirty="0"/>
          </a:p>
        </p:txBody>
      </p:sp>
      <p:sp>
        <p:nvSpPr>
          <p:cNvPr id="5" name="Limitations card"/>
          <p:cNvSpPr/>
          <p:nvPr/>
        </p:nvSpPr>
        <p:spPr>
          <a:xfrm>
            <a:off x="457200" y="1463040"/>
            <a:ext cx="4023360" cy="26974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Limitations heading"/>
          <p:cNvSpPr txBox="1"/>
          <p:nvPr/>
        </p:nvSpPr>
        <p:spPr>
          <a:xfrm>
            <a:off x="68580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7" name="Limitations list"/>
          <p:cNvSpPr txBox="1"/>
          <p:nvPr/>
        </p:nvSpPr>
        <p:spPr>
          <a:xfrm>
            <a:off x="685800" y="210312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Consecutive days are correlated, so random splits are optimistic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Temperature and feels-like temperature are 99% correlated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Two years of data and only 21 rain or snow days</a:t>
            </a:r>
            <a:endParaRPr lang="en-US" sz="1400" dirty="0"/>
          </a:p>
        </p:txBody>
      </p:sp>
      <p:sp>
        <p:nvSpPr>
          <p:cNvPr id="8" name="Next steps card"/>
          <p:cNvSpPr/>
          <p:nvPr/>
        </p:nvSpPr>
        <p:spPr>
          <a:xfrm>
            <a:off x="4663440" y="1463040"/>
            <a:ext cx="4023360" cy="26974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Next steps heading"/>
          <p:cNvSpPr txBox="1"/>
          <p:nvPr/>
        </p:nvSpPr>
        <p:spPr>
          <a:xfrm>
            <a:off x="489204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10" name="Next steps list"/>
          <p:cNvSpPr txBox="1"/>
          <p:nvPr/>
        </p:nvSpPr>
        <p:spPr>
          <a:xfrm>
            <a:off x="4892040" y="210312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Time-based validation: train on early days, test on later ones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Regularized and tree-based models for comparison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Hourly data to capture commuter peaks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Skills and tools demonstrated</a:t>
            </a:r>
            <a:endParaRPr lang="en-US" sz="3200" dirty="0"/>
          </a:p>
        </p:txBody>
      </p:sp>
      <p:sp>
        <p:nvSpPr>
          <p:cNvPr id="3" name="Chip R: lm, glm, boot"/>
          <p:cNvSpPr/>
          <p:nvPr/>
        </p:nvSpPr>
        <p:spPr>
          <a:xfrm>
            <a:off x="640080" y="1371600"/>
            <a:ext cx="3794760" cy="548640"/>
          </a:xfrm>
          <a:prstGeom prst="roundRect">
            <a:avLst>
              <a:gd name="adj" fmla="val 50000"/>
            </a:avLst>
          </a:prstGeom>
          <a:solidFill>
            <a:srgbClr val="1F6F8B">
              <a:alpha val="30000"/>
            </a:srgbClr>
          </a:solidFill>
          <a:ln w="12700">
            <a:solidFill>
              <a:srgbClr val="1F6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Chip text R: lm, glm, boot"/>
          <p:cNvSpPr txBox="1"/>
          <p:nvPr/>
        </p:nvSpPr>
        <p:spPr>
          <a:xfrm>
            <a:off x="640080" y="13716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R: lm, glm, boot</a:t>
            </a:r>
            <a:endParaRPr lang="en-US" sz="1600" dirty="0"/>
          </a:p>
        </p:txBody>
      </p:sp>
      <p:sp>
        <p:nvSpPr>
          <p:cNvPr id="5" name="Chip Regression modeling"/>
          <p:cNvSpPr/>
          <p:nvPr/>
        </p:nvSpPr>
        <p:spPr>
          <a:xfrm>
            <a:off x="4617720" y="1371600"/>
            <a:ext cx="3794760" cy="548640"/>
          </a:xfrm>
          <a:prstGeom prst="roundRect">
            <a:avLst>
              <a:gd name="adj" fmla="val 50000"/>
            </a:avLst>
          </a:prstGeom>
          <a:solidFill>
            <a:srgbClr val="1F6F8B">
              <a:alpha val="30000"/>
            </a:srgbClr>
          </a:solidFill>
          <a:ln w="12700">
            <a:solidFill>
              <a:srgbClr val="1F6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hip text Regression modeling"/>
          <p:cNvSpPr txBox="1"/>
          <p:nvPr/>
        </p:nvSpPr>
        <p:spPr>
          <a:xfrm>
            <a:off x="4617720" y="13716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Regression modeling</a:t>
            </a:r>
            <a:endParaRPr lang="en-US" sz="1600" dirty="0"/>
          </a:p>
        </p:txBody>
      </p:sp>
      <p:sp>
        <p:nvSpPr>
          <p:cNvPr id="7" name="Chip Cross-validation"/>
          <p:cNvSpPr/>
          <p:nvPr/>
        </p:nvSpPr>
        <p:spPr>
          <a:xfrm>
            <a:off x="640080" y="2057400"/>
            <a:ext cx="3794760" cy="548640"/>
          </a:xfrm>
          <a:prstGeom prst="roundRect">
            <a:avLst>
              <a:gd name="adj" fmla="val 50000"/>
            </a:avLst>
          </a:prstGeom>
          <a:solidFill>
            <a:srgbClr val="1F6F8B">
              <a:alpha val="30000"/>
            </a:srgbClr>
          </a:solidFill>
          <a:ln w="12700">
            <a:solidFill>
              <a:srgbClr val="1F6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hip text Cross-validation"/>
          <p:cNvSpPr txBox="1"/>
          <p:nvPr/>
        </p:nvSpPr>
        <p:spPr>
          <a:xfrm>
            <a:off x="640080" y="20574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Cross-validation</a:t>
            </a:r>
            <a:endParaRPr lang="en-US" sz="1600" dirty="0"/>
          </a:p>
        </p:txBody>
      </p:sp>
      <p:sp>
        <p:nvSpPr>
          <p:cNvPr id="9" name="Chip Feature engineering"/>
          <p:cNvSpPr/>
          <p:nvPr/>
        </p:nvSpPr>
        <p:spPr>
          <a:xfrm>
            <a:off x="4617720" y="2057400"/>
            <a:ext cx="3794760" cy="548640"/>
          </a:xfrm>
          <a:prstGeom prst="roundRect">
            <a:avLst>
              <a:gd name="adj" fmla="val 50000"/>
            </a:avLst>
          </a:prstGeom>
          <a:solidFill>
            <a:srgbClr val="1F6F8B">
              <a:alpha val="30000"/>
            </a:srgbClr>
          </a:solidFill>
          <a:ln w="12700">
            <a:solidFill>
              <a:srgbClr val="1F6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hip text Feature engineering"/>
          <p:cNvSpPr txBox="1"/>
          <p:nvPr/>
        </p:nvSpPr>
        <p:spPr>
          <a:xfrm>
            <a:off x="4617720" y="20574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Feature engineering</a:t>
            </a:r>
            <a:endParaRPr lang="en-US" sz="1600" dirty="0"/>
          </a:p>
        </p:txBody>
      </p:sp>
      <p:sp>
        <p:nvSpPr>
          <p:cNvPr id="11" name="Chip Exploratory analysis"/>
          <p:cNvSpPr/>
          <p:nvPr/>
        </p:nvSpPr>
        <p:spPr>
          <a:xfrm>
            <a:off x="640080" y="2743200"/>
            <a:ext cx="3794760" cy="548640"/>
          </a:xfrm>
          <a:prstGeom prst="roundRect">
            <a:avLst>
              <a:gd name="adj" fmla="val 50000"/>
            </a:avLst>
          </a:prstGeom>
          <a:solidFill>
            <a:srgbClr val="1F6F8B">
              <a:alpha val="30000"/>
            </a:srgbClr>
          </a:solidFill>
          <a:ln w="12700">
            <a:solidFill>
              <a:srgbClr val="1F6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Chip text Exploratory analysis"/>
          <p:cNvSpPr txBox="1"/>
          <p:nvPr/>
        </p:nvSpPr>
        <p:spPr>
          <a:xfrm>
            <a:off x="640080" y="27432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Exploratory analysis</a:t>
            </a:r>
            <a:endParaRPr lang="en-US" sz="1600" dirty="0"/>
          </a:p>
        </p:txBody>
      </p:sp>
      <p:sp>
        <p:nvSpPr>
          <p:cNvPr id="13" name="Chip Data cleaning"/>
          <p:cNvSpPr/>
          <p:nvPr/>
        </p:nvSpPr>
        <p:spPr>
          <a:xfrm>
            <a:off x="4617720" y="2743200"/>
            <a:ext cx="3794760" cy="548640"/>
          </a:xfrm>
          <a:prstGeom prst="roundRect">
            <a:avLst>
              <a:gd name="adj" fmla="val 50000"/>
            </a:avLst>
          </a:prstGeom>
          <a:solidFill>
            <a:srgbClr val="1F6F8B">
              <a:alpha val="30000"/>
            </a:srgbClr>
          </a:solidFill>
          <a:ln w="12700">
            <a:solidFill>
              <a:srgbClr val="1F6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Chip text Data cleaning"/>
          <p:cNvSpPr txBox="1"/>
          <p:nvPr/>
        </p:nvSpPr>
        <p:spPr>
          <a:xfrm>
            <a:off x="4617720" y="27432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Data cleaning</a:t>
            </a:r>
            <a:endParaRPr lang="en-US" sz="1600" dirty="0"/>
          </a:p>
        </p:txBody>
      </p:sp>
      <p:sp>
        <p:nvSpPr>
          <p:cNvPr id="15" name="Chip Model comparison"/>
          <p:cNvSpPr/>
          <p:nvPr/>
        </p:nvSpPr>
        <p:spPr>
          <a:xfrm>
            <a:off x="640080" y="3429000"/>
            <a:ext cx="3794760" cy="548640"/>
          </a:xfrm>
          <a:prstGeom prst="roundRect">
            <a:avLst>
              <a:gd name="adj" fmla="val 50000"/>
            </a:avLst>
          </a:prstGeom>
          <a:solidFill>
            <a:srgbClr val="1F6F8B">
              <a:alpha val="30000"/>
            </a:srgbClr>
          </a:solidFill>
          <a:ln w="12700">
            <a:solidFill>
              <a:srgbClr val="1F6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Chip text Model comparison"/>
          <p:cNvSpPr txBox="1"/>
          <p:nvPr/>
        </p:nvSpPr>
        <p:spPr>
          <a:xfrm>
            <a:off x="640080" y="34290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Model comparison</a:t>
            </a:r>
            <a:endParaRPr lang="en-US" sz="1600" dirty="0"/>
          </a:p>
        </p:txBody>
      </p:sp>
      <p:sp>
        <p:nvSpPr>
          <p:cNvPr id="17" name="Chip Communicating results"/>
          <p:cNvSpPr/>
          <p:nvPr/>
        </p:nvSpPr>
        <p:spPr>
          <a:xfrm>
            <a:off x="4617720" y="3429000"/>
            <a:ext cx="3794760" cy="548640"/>
          </a:xfrm>
          <a:prstGeom prst="roundRect">
            <a:avLst>
              <a:gd name="adj" fmla="val 50000"/>
            </a:avLst>
          </a:prstGeom>
          <a:solidFill>
            <a:srgbClr val="1F6F8B">
              <a:alpha val="30000"/>
            </a:srgbClr>
          </a:solidFill>
          <a:ln w="12700">
            <a:solidFill>
              <a:srgbClr val="1F6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Chip text Communicating results"/>
          <p:cNvSpPr txBox="1"/>
          <p:nvPr/>
        </p:nvSpPr>
        <p:spPr>
          <a:xfrm>
            <a:off x="4617720" y="34290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Communicating results</a:t>
            </a:r>
            <a:endParaRPr lang="en-US" sz="1600" dirty="0"/>
          </a:p>
        </p:txBody>
      </p:sp>
      <p:sp>
        <p:nvSpPr>
          <p:cNvPr id="19" name="Repo line"/>
          <p:cNvSpPr txBox="1"/>
          <p:nvPr/>
        </p:nvSpPr>
        <p:spPr>
          <a:xfrm>
            <a:off x="640080" y="4251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Full code, data and write-up on GitHub: </a:t>
            </a:r>
            <a:r>
              <a:rPr lang="en-US" sz="1600" dirty="0">
                <a:solidFill>
                  <a:schemeClr val="accent3"/>
                </a:solidFill>
                <a:hlinkClick r:id="rId3"/>
              </a:rPr>
              <a:t>bike-sharing-demand-regression</a:t>
            </a:r>
            <a:endParaRPr lang="en-US" sz="1600" dirty="0"/>
          </a:p>
        </p:txBody>
      </p:sp>
      <p:sp>
        <p:nvSpPr>
          <p:cNvPr id="20" name="Team closing"/>
          <p:cNvSpPr txBox="1"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Joe Nasr · Tyler Tarabocchia · Ryan Guidotti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Appendix A: data dictionary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Daily file from the UCI Bike Sharing dataset; ten predictors and one response.</a:t>
            </a:r>
            <a:endParaRPr lang="en-US" sz="1600" dirty="0"/>
          </a:p>
        </p:txBody>
      </p:sp>
      <p:graphicFrame>
        <p:nvGraphicFramePr>
          <p:cNvPr id="13" name="Data dictionar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18211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winter, 2 spring, 3 summer, 4 fall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2011, 1 = 2012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Month, 1 to 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Sunday through 6 = Saturday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if not a weekend or holiday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weathersit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clear, 2 cloudy or mist, 3 light rain or snow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 temperature (0 to 1 scale)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 feels-like temperature (0 to 1 scale)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 humidity (divided by 100)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 windspeed (divided by 67)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daily rentals, casual plus registered (modeled in thousands)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Appendix B: full results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Mean squared error in thousands of rides squared; lower is better.</a:t>
            </a:r>
            <a:endParaRPr lang="en-US" sz="1600" dirty="0"/>
          </a:p>
        </p:txBody>
      </p:sp>
      <p:graphicFrame>
        <p:nvGraphicFramePr>
          <p:cNvPr id="14" name="Full 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9260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Holdout (seed 100)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Holdout (seed 200)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Holdout (avg of 100)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LOOCV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5-fold CV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10-fold CV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3.434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3.434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sults footnote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Holdout columns use 70/30 random splits. Model 4 is lowest in every column.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ke Share Analytics">
  <a:themeElements>
    <a:clrScheme name="Bike Share Analytics">
      <a:dk1>
        <a:srgbClr val="17262F"/>
      </a:dk1>
      <a:lt1>
        <a:srgbClr val="FFFFFF"/>
      </a:lt1>
      <a:dk2>
        <a:srgbClr val="4B5D68"/>
      </a:dk2>
      <a:lt2>
        <a:srgbClr val="EAF1F4"/>
      </a:lt2>
      <a:accent1>
        <a:srgbClr val="1F6F8B"/>
      </a:accent1>
      <a:accent2>
        <a:srgbClr val="E39B2D"/>
      </a:accent2>
      <a:accent3>
        <a:srgbClr val="8FB8C8"/>
      </a:accent3>
      <a:accent4>
        <a:srgbClr val="B04A5A"/>
      </a:accent4>
      <a:accent5>
        <a:srgbClr val="5C7F67"/>
      </a:accent5>
      <a:accent6>
        <a:srgbClr val="9AA7AF"/>
      </a:accent6>
      <a:hlink>
        <a:srgbClr val="1F6F8B"/>
      </a:hlink>
      <a:folHlink>
        <a:srgbClr val="4B5D68"/>
      </a:folHlink>
    </a:clrScheme>
    <a:fontScheme name="Bike Share Analytic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1342</Words>
  <Application>Microsoft Office PowerPoint</Application>
  <PresentationFormat>On-screen Show (16:9)</PresentationFormat>
  <Paragraphs>235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Bike Share Analytics</vt:lpstr>
      <vt:lpstr>Forecasting Daily Bike-Share Demand</vt:lpstr>
      <vt:lpstr>Executive summary</vt:lpstr>
      <vt:lpstr>Data and approach</vt:lpstr>
      <vt:lpstr>Demand peaks in summer</vt:lpstr>
      <vt:lpstr>Bad weather cuts ridership</vt:lpstr>
      <vt:lpstr>Five candidate models</vt:lpstr>
      <vt:lpstr>Model 4 wins every test</vt:lpstr>
      <vt:lpstr>What moves ridership</vt:lpstr>
      <vt:lpstr>Follow-up: improving the best model</vt:lpstr>
      <vt:lpstr>Limitations and next steps</vt:lpstr>
      <vt:lpstr>Skills and tools demonstrated</vt:lpstr>
      <vt:lpstr>Appendix A: data dictionary</vt:lpstr>
      <vt:lpstr>Appendix B: full results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Forecasting Daily Bike-Share Demand</dc:title>
  <dc:subject>PptxGenJS Presentation</dc:subject>
  <dc:creator>Joe Nasr, Tyler Tarabocchia, Ryan Guidotti</dc:creator>
  <cp:lastModifiedBy>Joseph Nasr</cp:lastModifiedBy>
  <cp:revision>2</cp:revision>
  <dcterms:created xsi:type="dcterms:W3CDTF">2026-10-12T18:58:31Z</dcterms:created>
  <dcterms:modified xsi:type="dcterms:W3CDTF">2026-10-12T19:03:45Z</dcterms:modified>
</cp:coreProperties>
</file>